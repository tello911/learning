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7247EC-F048-4F2D-854B-0F7F2B04A08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50406B-E58B-487C-90A2-A15A608B58E7}">
      <dgm:prSet/>
      <dgm:spPr/>
      <dgm:t>
        <a:bodyPr/>
        <a:lstStyle/>
        <a:p>
          <a:r>
            <a:rPr lang="en-US"/>
            <a:t>Candidate: Mohammad Amirun Haziq</a:t>
          </a:r>
        </a:p>
      </dgm:t>
    </dgm:pt>
    <dgm:pt modelId="{76FCAEB4-3A82-4015-8D52-6EE8DCF4D5AF}" type="parTrans" cxnId="{5FE6DB04-AD6D-43EA-B295-91FE0B34E83B}">
      <dgm:prSet/>
      <dgm:spPr/>
      <dgm:t>
        <a:bodyPr/>
        <a:lstStyle/>
        <a:p>
          <a:endParaRPr lang="en-US"/>
        </a:p>
      </dgm:t>
    </dgm:pt>
    <dgm:pt modelId="{26A09C5E-FC43-4486-B49F-251F243AF056}" type="sibTrans" cxnId="{5FE6DB04-AD6D-43EA-B295-91FE0B34E83B}">
      <dgm:prSet/>
      <dgm:spPr/>
      <dgm:t>
        <a:bodyPr/>
        <a:lstStyle/>
        <a:p>
          <a:endParaRPr lang="en-US"/>
        </a:p>
      </dgm:t>
    </dgm:pt>
    <dgm:pt modelId="{F06E4806-D08F-49C8-86D0-6E9E24FCB19A}">
      <dgm:prSet/>
      <dgm:spPr/>
      <dgm:t>
        <a:bodyPr/>
        <a:lstStyle/>
        <a:p>
          <a:r>
            <a:rPr lang="en-US"/>
            <a:t>Role: Technical Operations Executive at StashAway</a:t>
          </a:r>
        </a:p>
      </dgm:t>
    </dgm:pt>
    <dgm:pt modelId="{C6DA8A10-F4DA-47C0-9A54-9D31365CD6DF}" type="parTrans" cxnId="{F3FA3CF7-8552-45BA-B137-C303F9647EE9}">
      <dgm:prSet/>
      <dgm:spPr/>
      <dgm:t>
        <a:bodyPr/>
        <a:lstStyle/>
        <a:p>
          <a:endParaRPr lang="en-US"/>
        </a:p>
      </dgm:t>
    </dgm:pt>
    <dgm:pt modelId="{35A54335-CF5E-4426-9286-1A4F3B7908F1}" type="sibTrans" cxnId="{F3FA3CF7-8552-45BA-B137-C303F9647EE9}">
      <dgm:prSet/>
      <dgm:spPr/>
      <dgm:t>
        <a:bodyPr/>
        <a:lstStyle/>
        <a:p>
          <a:endParaRPr lang="en-US"/>
        </a:p>
      </dgm:t>
    </dgm:pt>
    <dgm:pt modelId="{D942A4D9-84CF-4DB0-B8B7-1AAB466CADD8}">
      <dgm:prSet/>
      <dgm:spPr/>
      <dgm:t>
        <a:bodyPr/>
        <a:lstStyle/>
        <a:p>
          <a:r>
            <a:rPr lang="en-US"/>
            <a:t>Objective: Prepare for interview with strategic insights, role alignment, and FAQs</a:t>
          </a:r>
        </a:p>
      </dgm:t>
    </dgm:pt>
    <dgm:pt modelId="{891878DC-1134-4070-98FB-D2DDA8B0FB60}" type="parTrans" cxnId="{49BD9EF9-672E-4FA3-92BF-1C6F8E765626}">
      <dgm:prSet/>
      <dgm:spPr/>
      <dgm:t>
        <a:bodyPr/>
        <a:lstStyle/>
        <a:p>
          <a:endParaRPr lang="en-US"/>
        </a:p>
      </dgm:t>
    </dgm:pt>
    <dgm:pt modelId="{5376B70D-F977-4629-8C72-42EF770BFCA4}" type="sibTrans" cxnId="{49BD9EF9-672E-4FA3-92BF-1C6F8E765626}">
      <dgm:prSet/>
      <dgm:spPr/>
      <dgm:t>
        <a:bodyPr/>
        <a:lstStyle/>
        <a:p>
          <a:endParaRPr lang="en-US"/>
        </a:p>
      </dgm:t>
    </dgm:pt>
    <dgm:pt modelId="{225BC388-A7E4-4E0A-83E7-2B6AA09312F0}">
      <dgm:prSet/>
      <dgm:spPr/>
      <dgm:t>
        <a:bodyPr/>
        <a:lstStyle/>
        <a:p>
          <a:r>
            <a:rPr lang="en-US"/>
            <a:t>Includes: Industry analysis, company overview, competitive benchmarking, and tailored interview prep</a:t>
          </a:r>
        </a:p>
      </dgm:t>
    </dgm:pt>
    <dgm:pt modelId="{A9E1A117-23D1-4F3A-BE5D-788EC09F912E}" type="parTrans" cxnId="{95A8CE2C-6C75-416C-9EA4-E13C7CA1C76B}">
      <dgm:prSet/>
      <dgm:spPr/>
      <dgm:t>
        <a:bodyPr/>
        <a:lstStyle/>
        <a:p>
          <a:endParaRPr lang="en-US"/>
        </a:p>
      </dgm:t>
    </dgm:pt>
    <dgm:pt modelId="{4273D0DE-9C2B-46F1-A4D3-AEF23D46B793}" type="sibTrans" cxnId="{95A8CE2C-6C75-416C-9EA4-E13C7CA1C76B}">
      <dgm:prSet/>
      <dgm:spPr/>
      <dgm:t>
        <a:bodyPr/>
        <a:lstStyle/>
        <a:p>
          <a:endParaRPr lang="en-US"/>
        </a:p>
      </dgm:t>
    </dgm:pt>
    <dgm:pt modelId="{028F71D8-090D-41F7-B3C1-A796777382C0}" type="pres">
      <dgm:prSet presAssocID="{8E7247EC-F048-4F2D-854B-0F7F2B04A087}" presName="diagram" presStyleCnt="0">
        <dgm:presLayoutVars>
          <dgm:dir/>
          <dgm:resizeHandles val="exact"/>
        </dgm:presLayoutVars>
      </dgm:prSet>
      <dgm:spPr/>
    </dgm:pt>
    <dgm:pt modelId="{73A0BA48-7230-4C9C-BE4C-C75059B70B0C}" type="pres">
      <dgm:prSet presAssocID="{2C50406B-E58B-487C-90A2-A15A608B58E7}" presName="node" presStyleLbl="node1" presStyleIdx="0" presStyleCnt="4">
        <dgm:presLayoutVars>
          <dgm:bulletEnabled val="1"/>
        </dgm:presLayoutVars>
      </dgm:prSet>
      <dgm:spPr/>
    </dgm:pt>
    <dgm:pt modelId="{4938959D-E28D-476D-A679-831EAD25323C}" type="pres">
      <dgm:prSet presAssocID="{26A09C5E-FC43-4486-B49F-251F243AF056}" presName="sibTrans" presStyleCnt="0"/>
      <dgm:spPr/>
    </dgm:pt>
    <dgm:pt modelId="{E268FE33-0BCE-4C7D-95CE-DB906DDABE97}" type="pres">
      <dgm:prSet presAssocID="{F06E4806-D08F-49C8-86D0-6E9E24FCB19A}" presName="node" presStyleLbl="node1" presStyleIdx="1" presStyleCnt="4">
        <dgm:presLayoutVars>
          <dgm:bulletEnabled val="1"/>
        </dgm:presLayoutVars>
      </dgm:prSet>
      <dgm:spPr/>
    </dgm:pt>
    <dgm:pt modelId="{9B651FEE-6F6C-41FB-9C67-04444D1FC1A5}" type="pres">
      <dgm:prSet presAssocID="{35A54335-CF5E-4426-9286-1A4F3B7908F1}" presName="sibTrans" presStyleCnt="0"/>
      <dgm:spPr/>
    </dgm:pt>
    <dgm:pt modelId="{AE038F9B-A090-4092-838E-0E6481027B26}" type="pres">
      <dgm:prSet presAssocID="{D942A4D9-84CF-4DB0-B8B7-1AAB466CADD8}" presName="node" presStyleLbl="node1" presStyleIdx="2" presStyleCnt="4">
        <dgm:presLayoutVars>
          <dgm:bulletEnabled val="1"/>
        </dgm:presLayoutVars>
      </dgm:prSet>
      <dgm:spPr/>
    </dgm:pt>
    <dgm:pt modelId="{5057C894-DD7B-46F5-A160-2BAAED9C8240}" type="pres">
      <dgm:prSet presAssocID="{5376B70D-F977-4629-8C72-42EF770BFCA4}" presName="sibTrans" presStyleCnt="0"/>
      <dgm:spPr/>
    </dgm:pt>
    <dgm:pt modelId="{728A6D10-0E46-4E46-B861-405B369D1280}" type="pres">
      <dgm:prSet presAssocID="{225BC388-A7E4-4E0A-83E7-2B6AA09312F0}" presName="node" presStyleLbl="node1" presStyleIdx="3" presStyleCnt="4">
        <dgm:presLayoutVars>
          <dgm:bulletEnabled val="1"/>
        </dgm:presLayoutVars>
      </dgm:prSet>
      <dgm:spPr/>
    </dgm:pt>
  </dgm:ptLst>
  <dgm:cxnLst>
    <dgm:cxn modelId="{5FE6DB04-AD6D-43EA-B295-91FE0B34E83B}" srcId="{8E7247EC-F048-4F2D-854B-0F7F2B04A087}" destId="{2C50406B-E58B-487C-90A2-A15A608B58E7}" srcOrd="0" destOrd="0" parTransId="{76FCAEB4-3A82-4015-8D52-6EE8DCF4D5AF}" sibTransId="{26A09C5E-FC43-4486-B49F-251F243AF056}"/>
    <dgm:cxn modelId="{95A8CE2C-6C75-416C-9EA4-E13C7CA1C76B}" srcId="{8E7247EC-F048-4F2D-854B-0F7F2B04A087}" destId="{225BC388-A7E4-4E0A-83E7-2B6AA09312F0}" srcOrd="3" destOrd="0" parTransId="{A9E1A117-23D1-4F3A-BE5D-788EC09F912E}" sibTransId="{4273D0DE-9C2B-46F1-A4D3-AEF23D46B793}"/>
    <dgm:cxn modelId="{FBF45B45-29B1-41A0-AE9E-D8044C54EAEB}" type="presOf" srcId="{2C50406B-E58B-487C-90A2-A15A608B58E7}" destId="{73A0BA48-7230-4C9C-BE4C-C75059B70B0C}" srcOrd="0" destOrd="0" presId="urn:microsoft.com/office/officeart/2005/8/layout/default"/>
    <dgm:cxn modelId="{5A1AAA6B-EA13-4D8A-B2BE-D86F85C95580}" type="presOf" srcId="{225BC388-A7E4-4E0A-83E7-2B6AA09312F0}" destId="{728A6D10-0E46-4E46-B861-405B369D1280}" srcOrd="0" destOrd="0" presId="urn:microsoft.com/office/officeart/2005/8/layout/default"/>
    <dgm:cxn modelId="{BF5DC157-143A-43C5-87EE-CBE69EA56D1C}" type="presOf" srcId="{8E7247EC-F048-4F2D-854B-0F7F2B04A087}" destId="{028F71D8-090D-41F7-B3C1-A796777382C0}" srcOrd="0" destOrd="0" presId="urn:microsoft.com/office/officeart/2005/8/layout/default"/>
    <dgm:cxn modelId="{0EDD3097-22BC-471A-A4FB-0D0005A5EE85}" type="presOf" srcId="{F06E4806-D08F-49C8-86D0-6E9E24FCB19A}" destId="{E268FE33-0BCE-4C7D-95CE-DB906DDABE97}" srcOrd="0" destOrd="0" presId="urn:microsoft.com/office/officeart/2005/8/layout/default"/>
    <dgm:cxn modelId="{3F667AA4-3605-4069-811C-C364F213C6D6}" type="presOf" srcId="{D942A4D9-84CF-4DB0-B8B7-1AAB466CADD8}" destId="{AE038F9B-A090-4092-838E-0E6481027B26}" srcOrd="0" destOrd="0" presId="urn:microsoft.com/office/officeart/2005/8/layout/default"/>
    <dgm:cxn modelId="{F3FA3CF7-8552-45BA-B137-C303F9647EE9}" srcId="{8E7247EC-F048-4F2D-854B-0F7F2B04A087}" destId="{F06E4806-D08F-49C8-86D0-6E9E24FCB19A}" srcOrd="1" destOrd="0" parTransId="{C6DA8A10-F4DA-47C0-9A54-9D31365CD6DF}" sibTransId="{35A54335-CF5E-4426-9286-1A4F3B7908F1}"/>
    <dgm:cxn modelId="{49BD9EF9-672E-4FA3-92BF-1C6F8E765626}" srcId="{8E7247EC-F048-4F2D-854B-0F7F2B04A087}" destId="{D942A4D9-84CF-4DB0-B8B7-1AAB466CADD8}" srcOrd="2" destOrd="0" parTransId="{891878DC-1134-4070-98FB-D2DDA8B0FB60}" sibTransId="{5376B70D-F977-4629-8C72-42EF770BFCA4}"/>
    <dgm:cxn modelId="{B4DF7D34-866C-4398-9A53-E2F81DF1A6CC}" type="presParOf" srcId="{028F71D8-090D-41F7-B3C1-A796777382C0}" destId="{73A0BA48-7230-4C9C-BE4C-C75059B70B0C}" srcOrd="0" destOrd="0" presId="urn:microsoft.com/office/officeart/2005/8/layout/default"/>
    <dgm:cxn modelId="{443B60A7-B448-4784-9D01-DF00A463E144}" type="presParOf" srcId="{028F71D8-090D-41F7-B3C1-A796777382C0}" destId="{4938959D-E28D-476D-A679-831EAD25323C}" srcOrd="1" destOrd="0" presId="urn:microsoft.com/office/officeart/2005/8/layout/default"/>
    <dgm:cxn modelId="{7E408224-5456-481D-8869-04FA90CF5E17}" type="presParOf" srcId="{028F71D8-090D-41F7-B3C1-A796777382C0}" destId="{E268FE33-0BCE-4C7D-95CE-DB906DDABE97}" srcOrd="2" destOrd="0" presId="urn:microsoft.com/office/officeart/2005/8/layout/default"/>
    <dgm:cxn modelId="{51B14CF9-46DD-4539-90E4-9125099CA273}" type="presParOf" srcId="{028F71D8-090D-41F7-B3C1-A796777382C0}" destId="{9B651FEE-6F6C-41FB-9C67-04444D1FC1A5}" srcOrd="3" destOrd="0" presId="urn:microsoft.com/office/officeart/2005/8/layout/default"/>
    <dgm:cxn modelId="{4691D176-C08B-473B-ACF4-88EF39DD6579}" type="presParOf" srcId="{028F71D8-090D-41F7-B3C1-A796777382C0}" destId="{AE038F9B-A090-4092-838E-0E6481027B26}" srcOrd="4" destOrd="0" presId="urn:microsoft.com/office/officeart/2005/8/layout/default"/>
    <dgm:cxn modelId="{F39841A5-8349-454F-A6DA-7E3D8F8057D4}" type="presParOf" srcId="{028F71D8-090D-41F7-B3C1-A796777382C0}" destId="{5057C894-DD7B-46F5-A160-2BAAED9C8240}" srcOrd="5" destOrd="0" presId="urn:microsoft.com/office/officeart/2005/8/layout/default"/>
    <dgm:cxn modelId="{FBDED740-03FB-4D91-9631-27ABE3FF1E68}" type="presParOf" srcId="{028F71D8-090D-41F7-B3C1-A796777382C0}" destId="{728A6D10-0E46-4E46-B861-405B369D128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E60F81-DD40-407C-BA32-DA011CDA2D1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B223991-6B00-4DFC-9074-E28AC51AB087}">
      <dgm:prSet/>
      <dgm:spPr/>
      <dgm:t>
        <a:bodyPr/>
        <a:lstStyle/>
        <a:p>
          <a:r>
            <a:rPr lang="en-MY">
              <a:solidFill>
                <a:schemeClr val="bg1"/>
              </a:solidFill>
            </a:rPr>
            <a:t>Global robo-advisory market &gt; $2.5B by 2025</a:t>
          </a:r>
          <a:endParaRPr lang="en-US">
            <a:solidFill>
              <a:schemeClr val="bg1"/>
            </a:solidFill>
          </a:endParaRPr>
        </a:p>
      </dgm:t>
    </dgm:pt>
    <dgm:pt modelId="{E3F5D7BC-F7FB-4F7B-A6C5-3881DE6B6993}" type="parTrans" cxnId="{7E8010FC-BFA4-4B97-A43F-B729D4C301E2}">
      <dgm:prSet/>
      <dgm:spPr/>
      <dgm:t>
        <a:bodyPr/>
        <a:lstStyle/>
        <a:p>
          <a:endParaRPr lang="en-US"/>
        </a:p>
      </dgm:t>
    </dgm:pt>
    <dgm:pt modelId="{91E69445-604C-44A7-BAB9-25E7CAF8CD5F}" type="sibTrans" cxnId="{7E8010FC-BFA4-4B97-A43F-B729D4C301E2}">
      <dgm:prSet/>
      <dgm:spPr/>
      <dgm:t>
        <a:bodyPr/>
        <a:lstStyle/>
        <a:p>
          <a:endParaRPr lang="en-US"/>
        </a:p>
      </dgm:t>
    </dgm:pt>
    <dgm:pt modelId="{7B142DDB-47EE-4DFE-88AB-4DC4204DA9F3}">
      <dgm:prSet/>
      <dgm:spPr/>
      <dgm:t>
        <a:bodyPr/>
        <a:lstStyle/>
        <a:p>
          <a:r>
            <a:rPr lang="en-MY" dirty="0">
              <a:solidFill>
                <a:schemeClr val="bg1"/>
              </a:solidFill>
            </a:rPr>
            <a:t>Southeast Asia growing at &gt;20% CAGR</a:t>
          </a:r>
          <a:endParaRPr lang="en-US" dirty="0">
            <a:solidFill>
              <a:schemeClr val="bg1"/>
            </a:solidFill>
          </a:endParaRPr>
        </a:p>
      </dgm:t>
    </dgm:pt>
    <dgm:pt modelId="{57DD031D-BD06-4011-85B3-3F1C4D6419C7}" type="parTrans" cxnId="{42C290EE-CC21-4A2E-B52D-F7E41968B1E9}">
      <dgm:prSet/>
      <dgm:spPr/>
      <dgm:t>
        <a:bodyPr/>
        <a:lstStyle/>
        <a:p>
          <a:endParaRPr lang="en-US"/>
        </a:p>
      </dgm:t>
    </dgm:pt>
    <dgm:pt modelId="{20CEF08F-AF1F-408B-9FA6-EDE4DAAFA1C6}" type="sibTrans" cxnId="{42C290EE-CC21-4A2E-B52D-F7E41968B1E9}">
      <dgm:prSet/>
      <dgm:spPr/>
      <dgm:t>
        <a:bodyPr/>
        <a:lstStyle/>
        <a:p>
          <a:endParaRPr lang="en-US"/>
        </a:p>
      </dgm:t>
    </dgm:pt>
    <dgm:pt modelId="{7F7FC9C3-2DC8-4FF5-ACE4-A0E1375CA5A0}">
      <dgm:prSet/>
      <dgm:spPr/>
      <dgm:t>
        <a:bodyPr/>
        <a:lstStyle/>
        <a:p>
          <a:r>
            <a:rPr lang="en-MY">
              <a:solidFill>
                <a:schemeClr val="bg1"/>
              </a:solidFill>
            </a:rPr>
            <a:t>Customer segments: Mass affluent, HNWIs, millennials, Gen Z</a:t>
          </a:r>
          <a:endParaRPr lang="en-US">
            <a:solidFill>
              <a:schemeClr val="bg1"/>
            </a:solidFill>
          </a:endParaRPr>
        </a:p>
      </dgm:t>
    </dgm:pt>
    <dgm:pt modelId="{41448208-09BA-4195-B95D-576322025758}" type="parTrans" cxnId="{11E11B2A-14D9-4F47-AC20-0F9B1AB3348E}">
      <dgm:prSet/>
      <dgm:spPr/>
      <dgm:t>
        <a:bodyPr/>
        <a:lstStyle/>
        <a:p>
          <a:endParaRPr lang="en-US"/>
        </a:p>
      </dgm:t>
    </dgm:pt>
    <dgm:pt modelId="{AB3022F4-9450-4D4E-A198-F3BD3D87E896}" type="sibTrans" cxnId="{11E11B2A-14D9-4F47-AC20-0F9B1AB3348E}">
      <dgm:prSet/>
      <dgm:spPr/>
      <dgm:t>
        <a:bodyPr/>
        <a:lstStyle/>
        <a:p>
          <a:endParaRPr lang="en-US"/>
        </a:p>
      </dgm:t>
    </dgm:pt>
    <dgm:pt modelId="{03AB94D2-BB26-42D1-8E87-1205BAF0E547}">
      <dgm:prSet/>
      <dgm:spPr/>
      <dgm:t>
        <a:bodyPr/>
        <a:lstStyle/>
        <a:p>
          <a:r>
            <a:rPr lang="en-MY">
              <a:solidFill>
                <a:schemeClr val="bg1"/>
              </a:solidFill>
            </a:rPr>
            <a:t>Regulatory support from MAS, SC Malaysia, Bank Negara</a:t>
          </a:r>
          <a:endParaRPr lang="en-US">
            <a:solidFill>
              <a:schemeClr val="bg1"/>
            </a:solidFill>
          </a:endParaRPr>
        </a:p>
      </dgm:t>
    </dgm:pt>
    <dgm:pt modelId="{B3124E8B-E936-4022-AF1B-C4134E8B6CFB}" type="parTrans" cxnId="{0F4ED714-E632-49DE-8CB0-CB386998576D}">
      <dgm:prSet/>
      <dgm:spPr/>
      <dgm:t>
        <a:bodyPr/>
        <a:lstStyle/>
        <a:p>
          <a:endParaRPr lang="en-US"/>
        </a:p>
      </dgm:t>
    </dgm:pt>
    <dgm:pt modelId="{51472A79-1697-4512-887C-4D52D97B63CB}" type="sibTrans" cxnId="{0F4ED714-E632-49DE-8CB0-CB386998576D}">
      <dgm:prSet/>
      <dgm:spPr/>
      <dgm:t>
        <a:bodyPr/>
        <a:lstStyle/>
        <a:p>
          <a:endParaRPr lang="en-US"/>
        </a:p>
      </dgm:t>
    </dgm:pt>
    <dgm:pt modelId="{DBA4468B-EC73-493D-94C0-9A14EB5E1881}">
      <dgm:prSet/>
      <dgm:spPr/>
      <dgm:t>
        <a:bodyPr/>
        <a:lstStyle/>
        <a:p>
          <a:r>
            <a:rPr lang="en-MY" dirty="0">
              <a:solidFill>
                <a:schemeClr val="bg1"/>
              </a:solidFill>
            </a:rPr>
            <a:t>Tech drivers: AI, hyper-personalization, embedded finance</a:t>
          </a:r>
          <a:endParaRPr lang="en-US" dirty="0">
            <a:solidFill>
              <a:schemeClr val="bg1"/>
            </a:solidFill>
          </a:endParaRPr>
        </a:p>
      </dgm:t>
    </dgm:pt>
    <dgm:pt modelId="{6C55636B-24B4-4C85-A06D-D4B454AA009C}" type="parTrans" cxnId="{6F491F1B-46D1-4C81-98F8-0EDB6B2515E1}">
      <dgm:prSet/>
      <dgm:spPr/>
      <dgm:t>
        <a:bodyPr/>
        <a:lstStyle/>
        <a:p>
          <a:endParaRPr lang="en-US"/>
        </a:p>
      </dgm:t>
    </dgm:pt>
    <dgm:pt modelId="{A59BF244-9DA5-456C-B95A-87E9037D56B3}" type="sibTrans" cxnId="{6F491F1B-46D1-4C81-98F8-0EDB6B2515E1}">
      <dgm:prSet/>
      <dgm:spPr/>
      <dgm:t>
        <a:bodyPr/>
        <a:lstStyle/>
        <a:p>
          <a:endParaRPr lang="en-US"/>
        </a:p>
      </dgm:t>
    </dgm:pt>
    <dgm:pt modelId="{6F2A679C-E5A1-4951-BF0D-519E002914F0}" type="pres">
      <dgm:prSet presAssocID="{10E60F81-DD40-407C-BA32-DA011CDA2D1A}" presName="cycle" presStyleCnt="0">
        <dgm:presLayoutVars>
          <dgm:dir/>
          <dgm:resizeHandles val="exact"/>
        </dgm:presLayoutVars>
      </dgm:prSet>
      <dgm:spPr/>
    </dgm:pt>
    <dgm:pt modelId="{B772BB6B-95BF-47FC-813D-A7FCA4FA7989}" type="pres">
      <dgm:prSet presAssocID="{1B223991-6B00-4DFC-9074-E28AC51AB087}" presName="dummy" presStyleCnt="0"/>
      <dgm:spPr/>
    </dgm:pt>
    <dgm:pt modelId="{6B5C5622-9C64-46FA-A5B1-DD66995BF53D}" type="pres">
      <dgm:prSet presAssocID="{1B223991-6B00-4DFC-9074-E28AC51AB087}" presName="node" presStyleLbl="revTx" presStyleIdx="0" presStyleCnt="5">
        <dgm:presLayoutVars>
          <dgm:bulletEnabled val="1"/>
        </dgm:presLayoutVars>
      </dgm:prSet>
      <dgm:spPr/>
    </dgm:pt>
    <dgm:pt modelId="{A3FB39AE-BFBD-4681-B830-254FEA8C0245}" type="pres">
      <dgm:prSet presAssocID="{91E69445-604C-44A7-BAB9-25E7CAF8CD5F}" presName="sibTrans" presStyleLbl="node1" presStyleIdx="0" presStyleCnt="5"/>
      <dgm:spPr/>
    </dgm:pt>
    <dgm:pt modelId="{4E17835A-72BF-47D7-AB9F-E53AEB9DDE7D}" type="pres">
      <dgm:prSet presAssocID="{7B142DDB-47EE-4DFE-88AB-4DC4204DA9F3}" presName="dummy" presStyleCnt="0"/>
      <dgm:spPr/>
    </dgm:pt>
    <dgm:pt modelId="{811B9833-DE7D-46E6-80F7-A8F2415256C3}" type="pres">
      <dgm:prSet presAssocID="{7B142DDB-47EE-4DFE-88AB-4DC4204DA9F3}" presName="node" presStyleLbl="revTx" presStyleIdx="1" presStyleCnt="5">
        <dgm:presLayoutVars>
          <dgm:bulletEnabled val="1"/>
        </dgm:presLayoutVars>
      </dgm:prSet>
      <dgm:spPr/>
    </dgm:pt>
    <dgm:pt modelId="{A883F5F3-FFC2-4D03-8BF8-4D9A91943CE2}" type="pres">
      <dgm:prSet presAssocID="{20CEF08F-AF1F-408B-9FA6-EDE4DAAFA1C6}" presName="sibTrans" presStyleLbl="node1" presStyleIdx="1" presStyleCnt="5"/>
      <dgm:spPr/>
    </dgm:pt>
    <dgm:pt modelId="{1E7D9EE2-5E00-4A5C-9E78-D5C4A9B72062}" type="pres">
      <dgm:prSet presAssocID="{7F7FC9C3-2DC8-4FF5-ACE4-A0E1375CA5A0}" presName="dummy" presStyleCnt="0"/>
      <dgm:spPr/>
    </dgm:pt>
    <dgm:pt modelId="{FD81C161-E7EA-4515-A657-790620E21978}" type="pres">
      <dgm:prSet presAssocID="{7F7FC9C3-2DC8-4FF5-ACE4-A0E1375CA5A0}" presName="node" presStyleLbl="revTx" presStyleIdx="2" presStyleCnt="5">
        <dgm:presLayoutVars>
          <dgm:bulletEnabled val="1"/>
        </dgm:presLayoutVars>
      </dgm:prSet>
      <dgm:spPr/>
    </dgm:pt>
    <dgm:pt modelId="{A67FAA0A-D919-47C1-AA03-BFEDD95987CD}" type="pres">
      <dgm:prSet presAssocID="{AB3022F4-9450-4D4E-A198-F3BD3D87E896}" presName="sibTrans" presStyleLbl="node1" presStyleIdx="2" presStyleCnt="5"/>
      <dgm:spPr/>
    </dgm:pt>
    <dgm:pt modelId="{06968C60-92A3-4FCD-9871-4DFC11C60EC7}" type="pres">
      <dgm:prSet presAssocID="{03AB94D2-BB26-42D1-8E87-1205BAF0E547}" presName="dummy" presStyleCnt="0"/>
      <dgm:spPr/>
    </dgm:pt>
    <dgm:pt modelId="{7EDFF97B-0723-4DDB-A078-D7DE5FBC8775}" type="pres">
      <dgm:prSet presAssocID="{03AB94D2-BB26-42D1-8E87-1205BAF0E547}" presName="node" presStyleLbl="revTx" presStyleIdx="3" presStyleCnt="5">
        <dgm:presLayoutVars>
          <dgm:bulletEnabled val="1"/>
        </dgm:presLayoutVars>
      </dgm:prSet>
      <dgm:spPr/>
    </dgm:pt>
    <dgm:pt modelId="{623FB1F1-D191-4602-B38B-3150D62DFB75}" type="pres">
      <dgm:prSet presAssocID="{51472A79-1697-4512-887C-4D52D97B63CB}" presName="sibTrans" presStyleLbl="node1" presStyleIdx="3" presStyleCnt="5"/>
      <dgm:spPr/>
    </dgm:pt>
    <dgm:pt modelId="{4FAB0B05-8C7C-48C3-B0B3-FA76E4A64EB8}" type="pres">
      <dgm:prSet presAssocID="{DBA4468B-EC73-493D-94C0-9A14EB5E1881}" presName="dummy" presStyleCnt="0"/>
      <dgm:spPr/>
    </dgm:pt>
    <dgm:pt modelId="{4E69469E-A66C-42E8-A071-7E3E6F81B100}" type="pres">
      <dgm:prSet presAssocID="{DBA4468B-EC73-493D-94C0-9A14EB5E1881}" presName="node" presStyleLbl="revTx" presStyleIdx="4" presStyleCnt="5">
        <dgm:presLayoutVars>
          <dgm:bulletEnabled val="1"/>
        </dgm:presLayoutVars>
      </dgm:prSet>
      <dgm:spPr/>
    </dgm:pt>
    <dgm:pt modelId="{EDD55301-9C36-407B-930E-603BE94A701B}" type="pres">
      <dgm:prSet presAssocID="{A59BF244-9DA5-456C-B95A-87E9037D56B3}" presName="sibTrans" presStyleLbl="node1" presStyleIdx="4" presStyleCnt="5"/>
      <dgm:spPr/>
    </dgm:pt>
  </dgm:ptLst>
  <dgm:cxnLst>
    <dgm:cxn modelId="{51BB9A01-A575-4EF4-B7EA-6EE9E69D0DDC}" type="presOf" srcId="{91E69445-604C-44A7-BAB9-25E7CAF8CD5F}" destId="{A3FB39AE-BFBD-4681-B830-254FEA8C0245}" srcOrd="0" destOrd="0" presId="urn:microsoft.com/office/officeart/2005/8/layout/cycle1"/>
    <dgm:cxn modelId="{B3FFEF13-33FD-45ED-9286-7C607C6C9D25}" type="presOf" srcId="{20CEF08F-AF1F-408B-9FA6-EDE4DAAFA1C6}" destId="{A883F5F3-FFC2-4D03-8BF8-4D9A91943CE2}" srcOrd="0" destOrd="0" presId="urn:microsoft.com/office/officeart/2005/8/layout/cycle1"/>
    <dgm:cxn modelId="{0F4ED714-E632-49DE-8CB0-CB386998576D}" srcId="{10E60F81-DD40-407C-BA32-DA011CDA2D1A}" destId="{03AB94D2-BB26-42D1-8E87-1205BAF0E547}" srcOrd="3" destOrd="0" parTransId="{B3124E8B-E936-4022-AF1B-C4134E8B6CFB}" sibTransId="{51472A79-1697-4512-887C-4D52D97B63CB}"/>
    <dgm:cxn modelId="{3B2CC917-DA39-49FB-B2F8-CBF26EF94741}" type="presOf" srcId="{1B223991-6B00-4DFC-9074-E28AC51AB087}" destId="{6B5C5622-9C64-46FA-A5B1-DD66995BF53D}" srcOrd="0" destOrd="0" presId="urn:microsoft.com/office/officeart/2005/8/layout/cycle1"/>
    <dgm:cxn modelId="{6F491F1B-46D1-4C81-98F8-0EDB6B2515E1}" srcId="{10E60F81-DD40-407C-BA32-DA011CDA2D1A}" destId="{DBA4468B-EC73-493D-94C0-9A14EB5E1881}" srcOrd="4" destOrd="0" parTransId="{6C55636B-24B4-4C85-A06D-D4B454AA009C}" sibTransId="{A59BF244-9DA5-456C-B95A-87E9037D56B3}"/>
    <dgm:cxn modelId="{BEB14529-E1AB-4F61-8ED9-70FB2A39F335}" type="presOf" srcId="{AB3022F4-9450-4D4E-A198-F3BD3D87E896}" destId="{A67FAA0A-D919-47C1-AA03-BFEDD95987CD}" srcOrd="0" destOrd="0" presId="urn:microsoft.com/office/officeart/2005/8/layout/cycle1"/>
    <dgm:cxn modelId="{11E11B2A-14D9-4F47-AC20-0F9B1AB3348E}" srcId="{10E60F81-DD40-407C-BA32-DA011CDA2D1A}" destId="{7F7FC9C3-2DC8-4FF5-ACE4-A0E1375CA5A0}" srcOrd="2" destOrd="0" parTransId="{41448208-09BA-4195-B95D-576322025758}" sibTransId="{AB3022F4-9450-4D4E-A198-F3BD3D87E896}"/>
    <dgm:cxn modelId="{40E79837-E52A-4D41-8C4D-325B229B41F5}" type="presOf" srcId="{7F7FC9C3-2DC8-4FF5-ACE4-A0E1375CA5A0}" destId="{FD81C161-E7EA-4515-A657-790620E21978}" srcOrd="0" destOrd="0" presId="urn:microsoft.com/office/officeart/2005/8/layout/cycle1"/>
    <dgm:cxn modelId="{9BE1E139-1256-4B05-A89F-5262894F4ACB}" type="presOf" srcId="{51472A79-1697-4512-887C-4D52D97B63CB}" destId="{623FB1F1-D191-4602-B38B-3150D62DFB75}" srcOrd="0" destOrd="0" presId="urn:microsoft.com/office/officeart/2005/8/layout/cycle1"/>
    <dgm:cxn modelId="{BA0C8A5D-2AF9-4903-9297-19B2EC128584}" type="presOf" srcId="{10E60F81-DD40-407C-BA32-DA011CDA2D1A}" destId="{6F2A679C-E5A1-4951-BF0D-519E002914F0}" srcOrd="0" destOrd="0" presId="urn:microsoft.com/office/officeart/2005/8/layout/cycle1"/>
    <dgm:cxn modelId="{81F5AC66-A005-4AAD-951F-E30D3B812EDA}" type="presOf" srcId="{7B142DDB-47EE-4DFE-88AB-4DC4204DA9F3}" destId="{811B9833-DE7D-46E6-80F7-A8F2415256C3}" srcOrd="0" destOrd="0" presId="urn:microsoft.com/office/officeart/2005/8/layout/cycle1"/>
    <dgm:cxn modelId="{9E1ECB9D-825A-4C57-8F6B-4D3B2467625B}" type="presOf" srcId="{03AB94D2-BB26-42D1-8E87-1205BAF0E547}" destId="{7EDFF97B-0723-4DDB-A078-D7DE5FBC8775}" srcOrd="0" destOrd="0" presId="urn:microsoft.com/office/officeart/2005/8/layout/cycle1"/>
    <dgm:cxn modelId="{D16A98BB-1ABE-45AA-B85C-E4BF9B13E920}" type="presOf" srcId="{DBA4468B-EC73-493D-94C0-9A14EB5E1881}" destId="{4E69469E-A66C-42E8-A071-7E3E6F81B100}" srcOrd="0" destOrd="0" presId="urn:microsoft.com/office/officeart/2005/8/layout/cycle1"/>
    <dgm:cxn modelId="{3E7115E8-9A3C-4613-8094-BC996495DBED}" type="presOf" srcId="{A59BF244-9DA5-456C-B95A-87E9037D56B3}" destId="{EDD55301-9C36-407B-930E-603BE94A701B}" srcOrd="0" destOrd="0" presId="urn:microsoft.com/office/officeart/2005/8/layout/cycle1"/>
    <dgm:cxn modelId="{42C290EE-CC21-4A2E-B52D-F7E41968B1E9}" srcId="{10E60F81-DD40-407C-BA32-DA011CDA2D1A}" destId="{7B142DDB-47EE-4DFE-88AB-4DC4204DA9F3}" srcOrd="1" destOrd="0" parTransId="{57DD031D-BD06-4011-85B3-3F1C4D6419C7}" sibTransId="{20CEF08F-AF1F-408B-9FA6-EDE4DAAFA1C6}"/>
    <dgm:cxn modelId="{7E8010FC-BFA4-4B97-A43F-B729D4C301E2}" srcId="{10E60F81-DD40-407C-BA32-DA011CDA2D1A}" destId="{1B223991-6B00-4DFC-9074-E28AC51AB087}" srcOrd="0" destOrd="0" parTransId="{E3F5D7BC-F7FB-4F7B-A6C5-3881DE6B6993}" sibTransId="{91E69445-604C-44A7-BAB9-25E7CAF8CD5F}"/>
    <dgm:cxn modelId="{2F7A59AA-0789-4BE7-955B-8C2FD12B48B9}" type="presParOf" srcId="{6F2A679C-E5A1-4951-BF0D-519E002914F0}" destId="{B772BB6B-95BF-47FC-813D-A7FCA4FA7989}" srcOrd="0" destOrd="0" presId="urn:microsoft.com/office/officeart/2005/8/layout/cycle1"/>
    <dgm:cxn modelId="{FB855ADC-5646-41B3-BE0E-618572E7DEDF}" type="presParOf" srcId="{6F2A679C-E5A1-4951-BF0D-519E002914F0}" destId="{6B5C5622-9C64-46FA-A5B1-DD66995BF53D}" srcOrd="1" destOrd="0" presId="urn:microsoft.com/office/officeart/2005/8/layout/cycle1"/>
    <dgm:cxn modelId="{C08C8754-1857-4B93-94C1-69F7878AB7C0}" type="presParOf" srcId="{6F2A679C-E5A1-4951-BF0D-519E002914F0}" destId="{A3FB39AE-BFBD-4681-B830-254FEA8C0245}" srcOrd="2" destOrd="0" presId="urn:microsoft.com/office/officeart/2005/8/layout/cycle1"/>
    <dgm:cxn modelId="{A05FD4A2-9E83-4203-809B-527C950AE7C1}" type="presParOf" srcId="{6F2A679C-E5A1-4951-BF0D-519E002914F0}" destId="{4E17835A-72BF-47D7-AB9F-E53AEB9DDE7D}" srcOrd="3" destOrd="0" presId="urn:microsoft.com/office/officeart/2005/8/layout/cycle1"/>
    <dgm:cxn modelId="{F46793BC-A151-4FCB-9559-D7BBC312326F}" type="presParOf" srcId="{6F2A679C-E5A1-4951-BF0D-519E002914F0}" destId="{811B9833-DE7D-46E6-80F7-A8F2415256C3}" srcOrd="4" destOrd="0" presId="urn:microsoft.com/office/officeart/2005/8/layout/cycle1"/>
    <dgm:cxn modelId="{B14DECA2-97ED-43A4-A652-FA217AC6DC14}" type="presParOf" srcId="{6F2A679C-E5A1-4951-BF0D-519E002914F0}" destId="{A883F5F3-FFC2-4D03-8BF8-4D9A91943CE2}" srcOrd="5" destOrd="0" presId="urn:microsoft.com/office/officeart/2005/8/layout/cycle1"/>
    <dgm:cxn modelId="{50D61758-59B1-4958-99CF-A6335BBC6675}" type="presParOf" srcId="{6F2A679C-E5A1-4951-BF0D-519E002914F0}" destId="{1E7D9EE2-5E00-4A5C-9E78-D5C4A9B72062}" srcOrd="6" destOrd="0" presId="urn:microsoft.com/office/officeart/2005/8/layout/cycle1"/>
    <dgm:cxn modelId="{4ECEB7DD-7F57-4758-9E1A-FC07EB551BF2}" type="presParOf" srcId="{6F2A679C-E5A1-4951-BF0D-519E002914F0}" destId="{FD81C161-E7EA-4515-A657-790620E21978}" srcOrd="7" destOrd="0" presId="urn:microsoft.com/office/officeart/2005/8/layout/cycle1"/>
    <dgm:cxn modelId="{86132156-E985-4E47-8E11-8B7C8F043F1A}" type="presParOf" srcId="{6F2A679C-E5A1-4951-BF0D-519E002914F0}" destId="{A67FAA0A-D919-47C1-AA03-BFEDD95987CD}" srcOrd="8" destOrd="0" presId="urn:microsoft.com/office/officeart/2005/8/layout/cycle1"/>
    <dgm:cxn modelId="{0E8B3C6A-B689-41A4-865C-8B91643B8736}" type="presParOf" srcId="{6F2A679C-E5A1-4951-BF0D-519E002914F0}" destId="{06968C60-92A3-4FCD-9871-4DFC11C60EC7}" srcOrd="9" destOrd="0" presId="urn:microsoft.com/office/officeart/2005/8/layout/cycle1"/>
    <dgm:cxn modelId="{223697BB-D2E0-4793-9DE9-1DD335DD417B}" type="presParOf" srcId="{6F2A679C-E5A1-4951-BF0D-519E002914F0}" destId="{7EDFF97B-0723-4DDB-A078-D7DE5FBC8775}" srcOrd="10" destOrd="0" presId="urn:microsoft.com/office/officeart/2005/8/layout/cycle1"/>
    <dgm:cxn modelId="{6596BBFF-B885-4FF7-B204-3BBD1E7C8C5A}" type="presParOf" srcId="{6F2A679C-E5A1-4951-BF0D-519E002914F0}" destId="{623FB1F1-D191-4602-B38B-3150D62DFB75}" srcOrd="11" destOrd="0" presId="urn:microsoft.com/office/officeart/2005/8/layout/cycle1"/>
    <dgm:cxn modelId="{BEA8FC9D-EFE0-4B49-992E-D5E9049E36FE}" type="presParOf" srcId="{6F2A679C-E5A1-4951-BF0D-519E002914F0}" destId="{4FAB0B05-8C7C-48C3-B0B3-FA76E4A64EB8}" srcOrd="12" destOrd="0" presId="urn:microsoft.com/office/officeart/2005/8/layout/cycle1"/>
    <dgm:cxn modelId="{A9A6569D-4B1C-47E8-92CE-072A89A98919}" type="presParOf" srcId="{6F2A679C-E5A1-4951-BF0D-519E002914F0}" destId="{4E69469E-A66C-42E8-A071-7E3E6F81B100}" srcOrd="13" destOrd="0" presId="urn:microsoft.com/office/officeart/2005/8/layout/cycle1"/>
    <dgm:cxn modelId="{C2D2FA1D-F619-40A8-8697-DB2FDE572807}" type="presParOf" srcId="{6F2A679C-E5A1-4951-BF0D-519E002914F0}" destId="{EDD55301-9C36-407B-930E-603BE94A701B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429AAD-F66E-4600-B6CE-F9C84C48F0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E6B0705-F4F8-4441-85F6-06132EA444A5}">
      <dgm:prSet/>
      <dgm:spPr/>
      <dgm:t>
        <a:bodyPr/>
        <a:lstStyle/>
        <a:p>
          <a:pPr>
            <a:defRPr cap="all"/>
          </a:pPr>
          <a:r>
            <a:rPr lang="en-US"/>
            <a:t>Trends: ESG investing, fractional portfolios, embedded finance</a:t>
          </a:r>
        </a:p>
      </dgm:t>
    </dgm:pt>
    <dgm:pt modelId="{3C844542-CC0C-47A3-A662-CA999632477B}" type="parTrans" cxnId="{ED0317DF-A8C7-4C5B-AA82-793098A22E50}">
      <dgm:prSet/>
      <dgm:spPr/>
      <dgm:t>
        <a:bodyPr/>
        <a:lstStyle/>
        <a:p>
          <a:endParaRPr lang="en-US"/>
        </a:p>
      </dgm:t>
    </dgm:pt>
    <dgm:pt modelId="{5FB9783B-0BD8-4F02-AE45-A58A51B1FDFB}" type="sibTrans" cxnId="{ED0317DF-A8C7-4C5B-AA82-793098A22E50}">
      <dgm:prSet/>
      <dgm:spPr/>
      <dgm:t>
        <a:bodyPr/>
        <a:lstStyle/>
        <a:p>
          <a:endParaRPr lang="en-US"/>
        </a:p>
      </dgm:t>
    </dgm:pt>
    <dgm:pt modelId="{57587617-14F6-40BA-B265-5F995BA599E4}">
      <dgm:prSet/>
      <dgm:spPr/>
      <dgm:t>
        <a:bodyPr/>
        <a:lstStyle/>
        <a:p>
          <a:pPr>
            <a:defRPr cap="all"/>
          </a:pPr>
          <a:r>
            <a:rPr lang="en-US"/>
            <a:t>Threats: Data privacy, AI regulation, rising CAC</a:t>
          </a:r>
        </a:p>
      </dgm:t>
    </dgm:pt>
    <dgm:pt modelId="{81C7E845-800E-4056-B281-D2C268498B54}" type="parTrans" cxnId="{306A3C27-1068-4AEE-970C-D5F6D861A42F}">
      <dgm:prSet/>
      <dgm:spPr/>
      <dgm:t>
        <a:bodyPr/>
        <a:lstStyle/>
        <a:p>
          <a:endParaRPr lang="en-US"/>
        </a:p>
      </dgm:t>
    </dgm:pt>
    <dgm:pt modelId="{E67BD722-2315-4A9C-AC31-1F2675E6CDAE}" type="sibTrans" cxnId="{306A3C27-1068-4AEE-970C-D5F6D861A42F}">
      <dgm:prSet/>
      <dgm:spPr/>
      <dgm:t>
        <a:bodyPr/>
        <a:lstStyle/>
        <a:p>
          <a:endParaRPr lang="en-US"/>
        </a:p>
      </dgm:t>
    </dgm:pt>
    <dgm:pt modelId="{E8A69A80-3C66-4060-ADA0-0736C1F41516}">
      <dgm:prSet/>
      <dgm:spPr/>
      <dgm:t>
        <a:bodyPr/>
        <a:lstStyle/>
        <a:p>
          <a:pPr>
            <a:defRPr cap="all"/>
          </a:pPr>
          <a:r>
            <a:rPr lang="en-US"/>
            <a:t>Disruptions: Generative AI, blockchain asset tokenization, behavioral nudges</a:t>
          </a:r>
        </a:p>
      </dgm:t>
    </dgm:pt>
    <dgm:pt modelId="{24E84941-6036-4C5A-858C-89721B632907}" type="parTrans" cxnId="{D9B2604D-ECFF-4FC3-B1EF-D91048835DAE}">
      <dgm:prSet/>
      <dgm:spPr/>
      <dgm:t>
        <a:bodyPr/>
        <a:lstStyle/>
        <a:p>
          <a:endParaRPr lang="en-US"/>
        </a:p>
      </dgm:t>
    </dgm:pt>
    <dgm:pt modelId="{D6DCDFD3-124F-4204-8005-40243667E308}" type="sibTrans" cxnId="{D9B2604D-ECFF-4FC3-B1EF-D91048835DAE}">
      <dgm:prSet/>
      <dgm:spPr/>
      <dgm:t>
        <a:bodyPr/>
        <a:lstStyle/>
        <a:p>
          <a:endParaRPr lang="en-US"/>
        </a:p>
      </dgm:t>
    </dgm:pt>
    <dgm:pt modelId="{E822CB81-773B-44C7-B9B7-96BC15D473D9}" type="pres">
      <dgm:prSet presAssocID="{99429AAD-F66E-4600-B6CE-F9C84C48F0B1}" presName="root" presStyleCnt="0">
        <dgm:presLayoutVars>
          <dgm:dir/>
          <dgm:resizeHandles val="exact"/>
        </dgm:presLayoutVars>
      </dgm:prSet>
      <dgm:spPr/>
    </dgm:pt>
    <dgm:pt modelId="{231C51F2-ECF7-4BE5-B2CD-8E918D53C83B}" type="pres">
      <dgm:prSet presAssocID="{7E6B0705-F4F8-4441-85F6-06132EA444A5}" presName="compNode" presStyleCnt="0"/>
      <dgm:spPr/>
    </dgm:pt>
    <dgm:pt modelId="{858E8408-6F41-4994-B821-024CD2F37BDD}" type="pres">
      <dgm:prSet presAssocID="{7E6B0705-F4F8-4441-85F6-06132EA444A5}" presName="iconBgRect" presStyleLbl="bgShp" presStyleIdx="0" presStyleCnt="3"/>
      <dgm:spPr/>
    </dgm:pt>
    <dgm:pt modelId="{D7D0A04B-7B07-45B0-8149-D281F6DBE7F5}" type="pres">
      <dgm:prSet presAssocID="{7E6B0705-F4F8-4441-85F6-06132EA444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B17BA5F-0660-4239-897F-6769E7C43754}" type="pres">
      <dgm:prSet presAssocID="{7E6B0705-F4F8-4441-85F6-06132EA444A5}" presName="spaceRect" presStyleCnt="0"/>
      <dgm:spPr/>
    </dgm:pt>
    <dgm:pt modelId="{98C22C22-0E6A-4023-A4E8-44EA92F40CD2}" type="pres">
      <dgm:prSet presAssocID="{7E6B0705-F4F8-4441-85F6-06132EA444A5}" presName="textRect" presStyleLbl="revTx" presStyleIdx="0" presStyleCnt="3">
        <dgm:presLayoutVars>
          <dgm:chMax val="1"/>
          <dgm:chPref val="1"/>
        </dgm:presLayoutVars>
      </dgm:prSet>
      <dgm:spPr/>
    </dgm:pt>
    <dgm:pt modelId="{9F6DDA87-FCC1-4163-B16D-79FE6BC4A5E2}" type="pres">
      <dgm:prSet presAssocID="{5FB9783B-0BD8-4F02-AE45-A58A51B1FDFB}" presName="sibTrans" presStyleCnt="0"/>
      <dgm:spPr/>
    </dgm:pt>
    <dgm:pt modelId="{F3896988-2477-4CB5-A0EB-C288FD579D84}" type="pres">
      <dgm:prSet presAssocID="{57587617-14F6-40BA-B265-5F995BA599E4}" presName="compNode" presStyleCnt="0"/>
      <dgm:spPr/>
    </dgm:pt>
    <dgm:pt modelId="{E280EB8F-A174-4845-AA77-7E53F1283693}" type="pres">
      <dgm:prSet presAssocID="{57587617-14F6-40BA-B265-5F995BA599E4}" presName="iconBgRect" presStyleLbl="bgShp" presStyleIdx="1" presStyleCnt="3"/>
      <dgm:spPr/>
    </dgm:pt>
    <dgm:pt modelId="{67D40FCC-49CB-4E74-959C-103A2AA26624}" type="pres">
      <dgm:prSet presAssocID="{57587617-14F6-40BA-B265-5F995BA599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B8794852-D7A1-4B49-BA63-47B9D5213A41}" type="pres">
      <dgm:prSet presAssocID="{57587617-14F6-40BA-B265-5F995BA599E4}" presName="spaceRect" presStyleCnt="0"/>
      <dgm:spPr/>
    </dgm:pt>
    <dgm:pt modelId="{8F743615-EBFF-4E37-AF09-9DF22DFEA3C0}" type="pres">
      <dgm:prSet presAssocID="{57587617-14F6-40BA-B265-5F995BA599E4}" presName="textRect" presStyleLbl="revTx" presStyleIdx="1" presStyleCnt="3">
        <dgm:presLayoutVars>
          <dgm:chMax val="1"/>
          <dgm:chPref val="1"/>
        </dgm:presLayoutVars>
      </dgm:prSet>
      <dgm:spPr/>
    </dgm:pt>
    <dgm:pt modelId="{A4BBC3FC-0BB7-49BB-A8BB-8E9783EDE879}" type="pres">
      <dgm:prSet presAssocID="{E67BD722-2315-4A9C-AC31-1F2675E6CDAE}" presName="sibTrans" presStyleCnt="0"/>
      <dgm:spPr/>
    </dgm:pt>
    <dgm:pt modelId="{93C6E431-B847-454C-9202-DE1199A3CE5F}" type="pres">
      <dgm:prSet presAssocID="{E8A69A80-3C66-4060-ADA0-0736C1F41516}" presName="compNode" presStyleCnt="0"/>
      <dgm:spPr/>
    </dgm:pt>
    <dgm:pt modelId="{3F44EBD8-3263-433D-B1DA-446BADA3AF36}" type="pres">
      <dgm:prSet presAssocID="{E8A69A80-3C66-4060-ADA0-0736C1F41516}" presName="iconBgRect" presStyleLbl="bgShp" presStyleIdx="2" presStyleCnt="3"/>
      <dgm:spPr/>
    </dgm:pt>
    <dgm:pt modelId="{D2C5BFBA-3846-41DB-B49F-DDB7DFD328C5}" type="pres">
      <dgm:prSet presAssocID="{E8A69A80-3C66-4060-ADA0-0736C1F415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66F4710-6B8D-4D07-99C1-7911AC855394}" type="pres">
      <dgm:prSet presAssocID="{E8A69A80-3C66-4060-ADA0-0736C1F41516}" presName="spaceRect" presStyleCnt="0"/>
      <dgm:spPr/>
    </dgm:pt>
    <dgm:pt modelId="{83BB6A5F-97B9-4C14-AAB5-55FBD65AD013}" type="pres">
      <dgm:prSet presAssocID="{E8A69A80-3C66-4060-ADA0-0736C1F415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D61BA12-22B4-4E44-9388-72D2FBA5F91C}" type="presOf" srcId="{99429AAD-F66E-4600-B6CE-F9C84C48F0B1}" destId="{E822CB81-773B-44C7-B9B7-96BC15D473D9}" srcOrd="0" destOrd="0" presId="urn:microsoft.com/office/officeart/2018/5/layout/IconCircleLabelList"/>
    <dgm:cxn modelId="{306A3C27-1068-4AEE-970C-D5F6D861A42F}" srcId="{99429AAD-F66E-4600-B6CE-F9C84C48F0B1}" destId="{57587617-14F6-40BA-B265-5F995BA599E4}" srcOrd="1" destOrd="0" parTransId="{81C7E845-800E-4056-B281-D2C268498B54}" sibTransId="{E67BD722-2315-4A9C-AC31-1F2675E6CDAE}"/>
    <dgm:cxn modelId="{CD74CA33-4183-498F-93C6-6E6C4FAC91B3}" type="presOf" srcId="{57587617-14F6-40BA-B265-5F995BA599E4}" destId="{8F743615-EBFF-4E37-AF09-9DF22DFEA3C0}" srcOrd="0" destOrd="0" presId="urn:microsoft.com/office/officeart/2018/5/layout/IconCircleLabelList"/>
    <dgm:cxn modelId="{D9B2604D-ECFF-4FC3-B1EF-D91048835DAE}" srcId="{99429AAD-F66E-4600-B6CE-F9C84C48F0B1}" destId="{E8A69A80-3C66-4060-ADA0-0736C1F41516}" srcOrd="2" destOrd="0" parTransId="{24E84941-6036-4C5A-858C-89721B632907}" sibTransId="{D6DCDFD3-124F-4204-8005-40243667E308}"/>
    <dgm:cxn modelId="{AB825458-EEBA-4658-838D-6A5301DF7116}" type="presOf" srcId="{E8A69A80-3C66-4060-ADA0-0736C1F41516}" destId="{83BB6A5F-97B9-4C14-AAB5-55FBD65AD013}" srcOrd="0" destOrd="0" presId="urn:microsoft.com/office/officeart/2018/5/layout/IconCircleLabelList"/>
    <dgm:cxn modelId="{70F0F696-ECC3-4F1D-B0E6-9FFE24CB8F5D}" type="presOf" srcId="{7E6B0705-F4F8-4441-85F6-06132EA444A5}" destId="{98C22C22-0E6A-4023-A4E8-44EA92F40CD2}" srcOrd="0" destOrd="0" presId="urn:microsoft.com/office/officeart/2018/5/layout/IconCircleLabelList"/>
    <dgm:cxn modelId="{ED0317DF-A8C7-4C5B-AA82-793098A22E50}" srcId="{99429AAD-F66E-4600-B6CE-F9C84C48F0B1}" destId="{7E6B0705-F4F8-4441-85F6-06132EA444A5}" srcOrd="0" destOrd="0" parTransId="{3C844542-CC0C-47A3-A662-CA999632477B}" sibTransId="{5FB9783B-0BD8-4F02-AE45-A58A51B1FDFB}"/>
    <dgm:cxn modelId="{7E882DA1-A87D-417A-B822-269C035E9777}" type="presParOf" srcId="{E822CB81-773B-44C7-B9B7-96BC15D473D9}" destId="{231C51F2-ECF7-4BE5-B2CD-8E918D53C83B}" srcOrd="0" destOrd="0" presId="urn:microsoft.com/office/officeart/2018/5/layout/IconCircleLabelList"/>
    <dgm:cxn modelId="{DC7D4B60-A55A-41D2-9789-3826395C7D82}" type="presParOf" srcId="{231C51F2-ECF7-4BE5-B2CD-8E918D53C83B}" destId="{858E8408-6F41-4994-B821-024CD2F37BDD}" srcOrd="0" destOrd="0" presId="urn:microsoft.com/office/officeart/2018/5/layout/IconCircleLabelList"/>
    <dgm:cxn modelId="{9BD54072-37C1-4AEF-8783-494690A28735}" type="presParOf" srcId="{231C51F2-ECF7-4BE5-B2CD-8E918D53C83B}" destId="{D7D0A04B-7B07-45B0-8149-D281F6DBE7F5}" srcOrd="1" destOrd="0" presId="urn:microsoft.com/office/officeart/2018/5/layout/IconCircleLabelList"/>
    <dgm:cxn modelId="{40DAEEE8-92DE-4CFA-A7B5-5A43B6389C6F}" type="presParOf" srcId="{231C51F2-ECF7-4BE5-B2CD-8E918D53C83B}" destId="{9B17BA5F-0660-4239-897F-6769E7C43754}" srcOrd="2" destOrd="0" presId="urn:microsoft.com/office/officeart/2018/5/layout/IconCircleLabelList"/>
    <dgm:cxn modelId="{6FB0085F-B66A-473B-B992-108E3DF485D6}" type="presParOf" srcId="{231C51F2-ECF7-4BE5-B2CD-8E918D53C83B}" destId="{98C22C22-0E6A-4023-A4E8-44EA92F40CD2}" srcOrd="3" destOrd="0" presId="urn:microsoft.com/office/officeart/2018/5/layout/IconCircleLabelList"/>
    <dgm:cxn modelId="{FB1E50B5-B30A-4160-9AAA-76C0984D031F}" type="presParOf" srcId="{E822CB81-773B-44C7-B9B7-96BC15D473D9}" destId="{9F6DDA87-FCC1-4163-B16D-79FE6BC4A5E2}" srcOrd="1" destOrd="0" presId="urn:microsoft.com/office/officeart/2018/5/layout/IconCircleLabelList"/>
    <dgm:cxn modelId="{261E8DE1-98FF-470B-A765-8AED7005193B}" type="presParOf" srcId="{E822CB81-773B-44C7-B9B7-96BC15D473D9}" destId="{F3896988-2477-4CB5-A0EB-C288FD579D84}" srcOrd="2" destOrd="0" presId="urn:microsoft.com/office/officeart/2018/5/layout/IconCircleLabelList"/>
    <dgm:cxn modelId="{AE705569-4F3B-40A1-9BD4-D26CBD7CEF3A}" type="presParOf" srcId="{F3896988-2477-4CB5-A0EB-C288FD579D84}" destId="{E280EB8F-A174-4845-AA77-7E53F1283693}" srcOrd="0" destOrd="0" presId="urn:microsoft.com/office/officeart/2018/5/layout/IconCircleLabelList"/>
    <dgm:cxn modelId="{10DDE926-E6CC-4092-875E-009F1A02F104}" type="presParOf" srcId="{F3896988-2477-4CB5-A0EB-C288FD579D84}" destId="{67D40FCC-49CB-4E74-959C-103A2AA26624}" srcOrd="1" destOrd="0" presId="urn:microsoft.com/office/officeart/2018/5/layout/IconCircleLabelList"/>
    <dgm:cxn modelId="{39B25C35-4F61-490C-AEF5-08167E75C8C6}" type="presParOf" srcId="{F3896988-2477-4CB5-A0EB-C288FD579D84}" destId="{B8794852-D7A1-4B49-BA63-47B9D5213A41}" srcOrd="2" destOrd="0" presId="urn:microsoft.com/office/officeart/2018/5/layout/IconCircleLabelList"/>
    <dgm:cxn modelId="{09AEE5BD-85D3-4DC4-9D60-57A61E5CB320}" type="presParOf" srcId="{F3896988-2477-4CB5-A0EB-C288FD579D84}" destId="{8F743615-EBFF-4E37-AF09-9DF22DFEA3C0}" srcOrd="3" destOrd="0" presId="urn:microsoft.com/office/officeart/2018/5/layout/IconCircleLabelList"/>
    <dgm:cxn modelId="{27AC5AF3-68C8-45F5-9629-ADCBAF8BE750}" type="presParOf" srcId="{E822CB81-773B-44C7-B9B7-96BC15D473D9}" destId="{A4BBC3FC-0BB7-49BB-A8BB-8E9783EDE879}" srcOrd="3" destOrd="0" presId="urn:microsoft.com/office/officeart/2018/5/layout/IconCircleLabelList"/>
    <dgm:cxn modelId="{67C89D12-AD08-43CA-A403-785D7F4D8191}" type="presParOf" srcId="{E822CB81-773B-44C7-B9B7-96BC15D473D9}" destId="{93C6E431-B847-454C-9202-DE1199A3CE5F}" srcOrd="4" destOrd="0" presId="urn:microsoft.com/office/officeart/2018/5/layout/IconCircleLabelList"/>
    <dgm:cxn modelId="{EE9D0A14-4E53-40F3-91F9-14DE4DD0B38D}" type="presParOf" srcId="{93C6E431-B847-454C-9202-DE1199A3CE5F}" destId="{3F44EBD8-3263-433D-B1DA-446BADA3AF36}" srcOrd="0" destOrd="0" presId="urn:microsoft.com/office/officeart/2018/5/layout/IconCircleLabelList"/>
    <dgm:cxn modelId="{909F0B1B-42D2-4CF4-A295-7CF1A97B8329}" type="presParOf" srcId="{93C6E431-B847-454C-9202-DE1199A3CE5F}" destId="{D2C5BFBA-3846-41DB-B49F-DDB7DFD328C5}" srcOrd="1" destOrd="0" presId="urn:microsoft.com/office/officeart/2018/5/layout/IconCircleLabelList"/>
    <dgm:cxn modelId="{C2F51BE3-7885-4C3C-AAEC-1143DE2B65A6}" type="presParOf" srcId="{93C6E431-B847-454C-9202-DE1199A3CE5F}" destId="{966F4710-6B8D-4D07-99C1-7911AC855394}" srcOrd="2" destOrd="0" presId="urn:microsoft.com/office/officeart/2018/5/layout/IconCircleLabelList"/>
    <dgm:cxn modelId="{82E5D1F1-A669-485A-AAE1-E052586C0388}" type="presParOf" srcId="{93C6E431-B847-454C-9202-DE1199A3CE5F}" destId="{83BB6A5F-97B9-4C14-AAB5-55FBD65AD01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82BE7C-A02A-43C3-9877-886F5A4D711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8559FC-CC9F-4405-B0F9-394616137FDE}">
      <dgm:prSet/>
      <dgm:spPr/>
      <dgm:t>
        <a:bodyPr/>
        <a:lstStyle/>
        <a:p>
          <a:r>
            <a:rPr lang="en-US"/>
            <a:t>StashAway: Smart, accessible investing; strong AI engine</a:t>
          </a:r>
        </a:p>
      </dgm:t>
    </dgm:pt>
    <dgm:pt modelId="{7D1EB05A-0B70-4027-B3C5-019F3F8A3069}" type="parTrans" cxnId="{E9726630-5694-4CDA-A99D-A6E982EF93E7}">
      <dgm:prSet/>
      <dgm:spPr/>
      <dgm:t>
        <a:bodyPr/>
        <a:lstStyle/>
        <a:p>
          <a:endParaRPr lang="en-US"/>
        </a:p>
      </dgm:t>
    </dgm:pt>
    <dgm:pt modelId="{0A58DCF1-5BB5-4E90-BBEF-E119EC949A95}" type="sibTrans" cxnId="{E9726630-5694-4CDA-A99D-A6E982EF93E7}">
      <dgm:prSet/>
      <dgm:spPr/>
      <dgm:t>
        <a:bodyPr/>
        <a:lstStyle/>
        <a:p>
          <a:endParaRPr lang="en-US"/>
        </a:p>
      </dgm:t>
    </dgm:pt>
    <dgm:pt modelId="{63E02A79-C498-4A86-9AB2-EB5C5E1C49D2}">
      <dgm:prSet/>
      <dgm:spPr/>
      <dgm:t>
        <a:bodyPr/>
        <a:lstStyle/>
        <a:p>
          <a:r>
            <a:rPr lang="en-US"/>
            <a:t>Endowus: Trusted, CPF-integrated; hybrid advisory</a:t>
          </a:r>
        </a:p>
      </dgm:t>
    </dgm:pt>
    <dgm:pt modelId="{D75CEF73-7B11-4C66-8839-4429FF9A44A3}" type="parTrans" cxnId="{CFEB0109-1231-42AE-AF1A-982A39762B10}">
      <dgm:prSet/>
      <dgm:spPr/>
      <dgm:t>
        <a:bodyPr/>
        <a:lstStyle/>
        <a:p>
          <a:endParaRPr lang="en-US"/>
        </a:p>
      </dgm:t>
    </dgm:pt>
    <dgm:pt modelId="{902B5447-8CED-4EE3-802A-C332DF05B6A2}" type="sibTrans" cxnId="{CFEB0109-1231-42AE-AF1A-982A39762B10}">
      <dgm:prSet/>
      <dgm:spPr/>
      <dgm:t>
        <a:bodyPr/>
        <a:lstStyle/>
        <a:p>
          <a:endParaRPr lang="en-US"/>
        </a:p>
      </dgm:t>
    </dgm:pt>
    <dgm:pt modelId="{A40E25DD-6861-4938-BF4C-923FF7CDC6DE}">
      <dgm:prSet/>
      <dgm:spPr/>
      <dgm:t>
        <a:bodyPr/>
        <a:lstStyle/>
        <a:p>
          <a:r>
            <a:rPr lang="en-US"/>
            <a:t>Syfe: Modern, diversified; REITs and thematic portfolios</a:t>
          </a:r>
        </a:p>
      </dgm:t>
    </dgm:pt>
    <dgm:pt modelId="{88FBDB9A-2660-4CCE-AD69-43FDEEBF8FE0}" type="parTrans" cxnId="{599AFC29-3569-4880-A771-952D46373A89}">
      <dgm:prSet/>
      <dgm:spPr/>
      <dgm:t>
        <a:bodyPr/>
        <a:lstStyle/>
        <a:p>
          <a:endParaRPr lang="en-US"/>
        </a:p>
      </dgm:t>
    </dgm:pt>
    <dgm:pt modelId="{76C7B9A6-F906-43E4-8AE2-56734BBE03FB}" type="sibTrans" cxnId="{599AFC29-3569-4880-A771-952D46373A89}">
      <dgm:prSet/>
      <dgm:spPr/>
      <dgm:t>
        <a:bodyPr/>
        <a:lstStyle/>
        <a:p>
          <a:endParaRPr lang="en-US"/>
        </a:p>
      </dgm:t>
    </dgm:pt>
    <dgm:pt modelId="{310EB355-D3A3-43A7-AF84-E88A4AC3E062}">
      <dgm:prSet/>
      <dgm:spPr/>
      <dgm:t>
        <a:bodyPr/>
        <a:lstStyle/>
        <a:p>
          <a:r>
            <a:rPr lang="en-US"/>
            <a:t>Kristal.AI: Premium, global; concierge service</a:t>
          </a:r>
        </a:p>
      </dgm:t>
    </dgm:pt>
    <dgm:pt modelId="{5200FFC5-78D1-41EC-A6D9-BD5F7D367CCE}" type="parTrans" cxnId="{580F47D6-8519-4C51-8186-25E7D06E1A23}">
      <dgm:prSet/>
      <dgm:spPr/>
      <dgm:t>
        <a:bodyPr/>
        <a:lstStyle/>
        <a:p>
          <a:endParaRPr lang="en-US"/>
        </a:p>
      </dgm:t>
    </dgm:pt>
    <dgm:pt modelId="{C90BA7C8-9D84-4357-9F66-47055CCB9487}" type="sibTrans" cxnId="{580F47D6-8519-4C51-8186-25E7D06E1A23}">
      <dgm:prSet/>
      <dgm:spPr/>
      <dgm:t>
        <a:bodyPr/>
        <a:lstStyle/>
        <a:p>
          <a:endParaRPr lang="en-US"/>
        </a:p>
      </dgm:t>
    </dgm:pt>
    <dgm:pt modelId="{ED3C3151-B7AD-4FC9-890C-816FF8BA1112}">
      <dgm:prSet/>
      <dgm:spPr/>
      <dgm:t>
        <a:bodyPr/>
        <a:lstStyle/>
        <a:p>
          <a:r>
            <a:rPr lang="en-US"/>
            <a:t>Betterment: Efficient, US-focused; tax optimization</a:t>
          </a:r>
        </a:p>
      </dgm:t>
    </dgm:pt>
    <dgm:pt modelId="{858EE811-2B88-4C66-9A2F-DDEA8B17608B}" type="parTrans" cxnId="{4ACCC26A-83F4-4B53-9CEB-6FDE3AAE0174}">
      <dgm:prSet/>
      <dgm:spPr/>
      <dgm:t>
        <a:bodyPr/>
        <a:lstStyle/>
        <a:p>
          <a:endParaRPr lang="en-US"/>
        </a:p>
      </dgm:t>
    </dgm:pt>
    <dgm:pt modelId="{B65D581A-2372-4216-8CE3-14AD62C31F1B}" type="sibTrans" cxnId="{4ACCC26A-83F4-4B53-9CEB-6FDE3AAE0174}">
      <dgm:prSet/>
      <dgm:spPr/>
      <dgm:t>
        <a:bodyPr/>
        <a:lstStyle/>
        <a:p>
          <a:endParaRPr lang="en-US"/>
        </a:p>
      </dgm:t>
    </dgm:pt>
    <dgm:pt modelId="{EDFAA227-5A92-4911-9AEE-49AB1A282E19}" type="pres">
      <dgm:prSet presAssocID="{2982BE7C-A02A-43C3-9877-886F5A4D7112}" presName="diagram" presStyleCnt="0">
        <dgm:presLayoutVars>
          <dgm:dir/>
          <dgm:resizeHandles val="exact"/>
        </dgm:presLayoutVars>
      </dgm:prSet>
      <dgm:spPr/>
    </dgm:pt>
    <dgm:pt modelId="{799F23C2-8B60-4C99-982E-FF592F4795D5}" type="pres">
      <dgm:prSet presAssocID="{3E8559FC-CC9F-4405-B0F9-394616137FDE}" presName="node" presStyleLbl="node1" presStyleIdx="0" presStyleCnt="5">
        <dgm:presLayoutVars>
          <dgm:bulletEnabled val="1"/>
        </dgm:presLayoutVars>
      </dgm:prSet>
      <dgm:spPr/>
    </dgm:pt>
    <dgm:pt modelId="{8091A124-EF42-4D54-8950-EB4FE9C1FA6A}" type="pres">
      <dgm:prSet presAssocID="{0A58DCF1-5BB5-4E90-BBEF-E119EC949A95}" presName="sibTrans" presStyleCnt="0"/>
      <dgm:spPr/>
    </dgm:pt>
    <dgm:pt modelId="{4671E8EA-A8CE-4E67-8081-3E29E937C26B}" type="pres">
      <dgm:prSet presAssocID="{63E02A79-C498-4A86-9AB2-EB5C5E1C49D2}" presName="node" presStyleLbl="node1" presStyleIdx="1" presStyleCnt="5">
        <dgm:presLayoutVars>
          <dgm:bulletEnabled val="1"/>
        </dgm:presLayoutVars>
      </dgm:prSet>
      <dgm:spPr/>
    </dgm:pt>
    <dgm:pt modelId="{3793F75B-FE52-43CA-B8ED-CCC5BB4EC1F3}" type="pres">
      <dgm:prSet presAssocID="{902B5447-8CED-4EE3-802A-C332DF05B6A2}" presName="sibTrans" presStyleCnt="0"/>
      <dgm:spPr/>
    </dgm:pt>
    <dgm:pt modelId="{D64D860F-86F8-46F9-B3F7-25A85820ED63}" type="pres">
      <dgm:prSet presAssocID="{A40E25DD-6861-4938-BF4C-923FF7CDC6DE}" presName="node" presStyleLbl="node1" presStyleIdx="2" presStyleCnt="5">
        <dgm:presLayoutVars>
          <dgm:bulletEnabled val="1"/>
        </dgm:presLayoutVars>
      </dgm:prSet>
      <dgm:spPr/>
    </dgm:pt>
    <dgm:pt modelId="{A9F74276-FD0A-490E-880E-241A1E695878}" type="pres">
      <dgm:prSet presAssocID="{76C7B9A6-F906-43E4-8AE2-56734BBE03FB}" presName="sibTrans" presStyleCnt="0"/>
      <dgm:spPr/>
    </dgm:pt>
    <dgm:pt modelId="{4328AA67-CCD0-4D9D-934F-8333C857B556}" type="pres">
      <dgm:prSet presAssocID="{310EB355-D3A3-43A7-AF84-E88A4AC3E062}" presName="node" presStyleLbl="node1" presStyleIdx="3" presStyleCnt="5">
        <dgm:presLayoutVars>
          <dgm:bulletEnabled val="1"/>
        </dgm:presLayoutVars>
      </dgm:prSet>
      <dgm:spPr/>
    </dgm:pt>
    <dgm:pt modelId="{FBF31275-234E-4EFF-9E18-9672D381B8E4}" type="pres">
      <dgm:prSet presAssocID="{C90BA7C8-9D84-4357-9F66-47055CCB9487}" presName="sibTrans" presStyleCnt="0"/>
      <dgm:spPr/>
    </dgm:pt>
    <dgm:pt modelId="{EE7D394A-87FF-4127-8C17-D33EA6DEA255}" type="pres">
      <dgm:prSet presAssocID="{ED3C3151-B7AD-4FC9-890C-816FF8BA1112}" presName="node" presStyleLbl="node1" presStyleIdx="4" presStyleCnt="5">
        <dgm:presLayoutVars>
          <dgm:bulletEnabled val="1"/>
        </dgm:presLayoutVars>
      </dgm:prSet>
      <dgm:spPr/>
    </dgm:pt>
  </dgm:ptLst>
  <dgm:cxnLst>
    <dgm:cxn modelId="{2053C104-E253-4B3A-9E77-5EFDA1C98D64}" type="presOf" srcId="{310EB355-D3A3-43A7-AF84-E88A4AC3E062}" destId="{4328AA67-CCD0-4D9D-934F-8333C857B556}" srcOrd="0" destOrd="0" presId="urn:microsoft.com/office/officeart/2005/8/layout/default"/>
    <dgm:cxn modelId="{CFEB0109-1231-42AE-AF1A-982A39762B10}" srcId="{2982BE7C-A02A-43C3-9877-886F5A4D7112}" destId="{63E02A79-C498-4A86-9AB2-EB5C5E1C49D2}" srcOrd="1" destOrd="0" parTransId="{D75CEF73-7B11-4C66-8839-4429FF9A44A3}" sibTransId="{902B5447-8CED-4EE3-802A-C332DF05B6A2}"/>
    <dgm:cxn modelId="{77C9C20A-7B9C-4E88-870F-120F50DCB24A}" type="presOf" srcId="{63E02A79-C498-4A86-9AB2-EB5C5E1C49D2}" destId="{4671E8EA-A8CE-4E67-8081-3E29E937C26B}" srcOrd="0" destOrd="0" presId="urn:microsoft.com/office/officeart/2005/8/layout/default"/>
    <dgm:cxn modelId="{599AFC29-3569-4880-A771-952D46373A89}" srcId="{2982BE7C-A02A-43C3-9877-886F5A4D7112}" destId="{A40E25DD-6861-4938-BF4C-923FF7CDC6DE}" srcOrd="2" destOrd="0" parTransId="{88FBDB9A-2660-4CCE-AD69-43FDEEBF8FE0}" sibTransId="{76C7B9A6-F906-43E4-8AE2-56734BBE03FB}"/>
    <dgm:cxn modelId="{E9726630-5694-4CDA-A99D-A6E982EF93E7}" srcId="{2982BE7C-A02A-43C3-9877-886F5A4D7112}" destId="{3E8559FC-CC9F-4405-B0F9-394616137FDE}" srcOrd="0" destOrd="0" parTransId="{7D1EB05A-0B70-4027-B3C5-019F3F8A3069}" sibTransId="{0A58DCF1-5BB5-4E90-BBEF-E119EC949A95}"/>
    <dgm:cxn modelId="{4ACCC26A-83F4-4B53-9CEB-6FDE3AAE0174}" srcId="{2982BE7C-A02A-43C3-9877-886F5A4D7112}" destId="{ED3C3151-B7AD-4FC9-890C-816FF8BA1112}" srcOrd="4" destOrd="0" parTransId="{858EE811-2B88-4C66-9A2F-DDEA8B17608B}" sibTransId="{B65D581A-2372-4216-8CE3-14AD62C31F1B}"/>
    <dgm:cxn modelId="{D1D14D6E-FD50-4D9A-8964-FC659D2B46D3}" type="presOf" srcId="{2982BE7C-A02A-43C3-9877-886F5A4D7112}" destId="{EDFAA227-5A92-4911-9AEE-49AB1A282E19}" srcOrd="0" destOrd="0" presId="urn:microsoft.com/office/officeart/2005/8/layout/default"/>
    <dgm:cxn modelId="{580F47D6-8519-4C51-8186-25E7D06E1A23}" srcId="{2982BE7C-A02A-43C3-9877-886F5A4D7112}" destId="{310EB355-D3A3-43A7-AF84-E88A4AC3E062}" srcOrd="3" destOrd="0" parTransId="{5200FFC5-78D1-41EC-A6D9-BD5F7D367CCE}" sibTransId="{C90BA7C8-9D84-4357-9F66-47055CCB9487}"/>
    <dgm:cxn modelId="{C43E3BE6-0600-455C-B557-3776CEDA92DC}" type="presOf" srcId="{A40E25DD-6861-4938-BF4C-923FF7CDC6DE}" destId="{D64D860F-86F8-46F9-B3F7-25A85820ED63}" srcOrd="0" destOrd="0" presId="urn:microsoft.com/office/officeart/2005/8/layout/default"/>
    <dgm:cxn modelId="{AEBD20E8-C03E-445D-933B-CD756FA5B0E6}" type="presOf" srcId="{3E8559FC-CC9F-4405-B0F9-394616137FDE}" destId="{799F23C2-8B60-4C99-982E-FF592F4795D5}" srcOrd="0" destOrd="0" presId="urn:microsoft.com/office/officeart/2005/8/layout/default"/>
    <dgm:cxn modelId="{F51C31EC-D6CD-4361-910B-1CB5D273FBAD}" type="presOf" srcId="{ED3C3151-B7AD-4FC9-890C-816FF8BA1112}" destId="{EE7D394A-87FF-4127-8C17-D33EA6DEA255}" srcOrd="0" destOrd="0" presId="urn:microsoft.com/office/officeart/2005/8/layout/default"/>
    <dgm:cxn modelId="{157C179E-5E5C-49F6-AFF7-04F86888774F}" type="presParOf" srcId="{EDFAA227-5A92-4911-9AEE-49AB1A282E19}" destId="{799F23C2-8B60-4C99-982E-FF592F4795D5}" srcOrd="0" destOrd="0" presId="urn:microsoft.com/office/officeart/2005/8/layout/default"/>
    <dgm:cxn modelId="{A90B7953-0809-4521-86A1-C8305D4765F6}" type="presParOf" srcId="{EDFAA227-5A92-4911-9AEE-49AB1A282E19}" destId="{8091A124-EF42-4D54-8950-EB4FE9C1FA6A}" srcOrd="1" destOrd="0" presId="urn:microsoft.com/office/officeart/2005/8/layout/default"/>
    <dgm:cxn modelId="{EA6A968F-0B6D-49B7-A13F-A3B62C40D4FA}" type="presParOf" srcId="{EDFAA227-5A92-4911-9AEE-49AB1A282E19}" destId="{4671E8EA-A8CE-4E67-8081-3E29E937C26B}" srcOrd="2" destOrd="0" presId="urn:microsoft.com/office/officeart/2005/8/layout/default"/>
    <dgm:cxn modelId="{83D56EF8-22B4-43D4-AC7F-814B23CB3516}" type="presParOf" srcId="{EDFAA227-5A92-4911-9AEE-49AB1A282E19}" destId="{3793F75B-FE52-43CA-B8ED-CCC5BB4EC1F3}" srcOrd="3" destOrd="0" presId="urn:microsoft.com/office/officeart/2005/8/layout/default"/>
    <dgm:cxn modelId="{9047B84F-4F3F-4D6C-8E0C-5BC1FA8A7A7B}" type="presParOf" srcId="{EDFAA227-5A92-4911-9AEE-49AB1A282E19}" destId="{D64D860F-86F8-46F9-B3F7-25A85820ED63}" srcOrd="4" destOrd="0" presId="urn:microsoft.com/office/officeart/2005/8/layout/default"/>
    <dgm:cxn modelId="{6D16FE82-2D6D-4481-811B-557A3F06E5BF}" type="presParOf" srcId="{EDFAA227-5A92-4911-9AEE-49AB1A282E19}" destId="{A9F74276-FD0A-490E-880E-241A1E695878}" srcOrd="5" destOrd="0" presId="urn:microsoft.com/office/officeart/2005/8/layout/default"/>
    <dgm:cxn modelId="{514287AF-9872-4137-9F8A-73E4FD9061B0}" type="presParOf" srcId="{EDFAA227-5A92-4911-9AEE-49AB1A282E19}" destId="{4328AA67-CCD0-4D9D-934F-8333C857B556}" srcOrd="6" destOrd="0" presId="urn:microsoft.com/office/officeart/2005/8/layout/default"/>
    <dgm:cxn modelId="{802B22D8-FC87-4412-AD39-550033A08DBB}" type="presParOf" srcId="{EDFAA227-5A92-4911-9AEE-49AB1A282E19}" destId="{FBF31275-234E-4EFF-9E18-9672D381B8E4}" srcOrd="7" destOrd="0" presId="urn:microsoft.com/office/officeart/2005/8/layout/default"/>
    <dgm:cxn modelId="{E4139487-17DF-42C9-AB20-DF86E29E4DBF}" type="presParOf" srcId="{EDFAA227-5A92-4911-9AEE-49AB1A282E19}" destId="{EE7D394A-87FF-4127-8C17-D33EA6DEA25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63845E-F8C8-43FB-A9D9-3BD206E0476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0AD64CC-051A-46F3-B1A9-031320678335}">
      <dgm:prSet/>
      <dgm:spPr/>
      <dgm:t>
        <a:bodyPr/>
        <a:lstStyle/>
        <a:p>
          <a:r>
            <a:rPr lang="en-US"/>
            <a:t>Strengths: Scalable tech, low cost, data-driven</a:t>
          </a:r>
        </a:p>
      </dgm:t>
    </dgm:pt>
    <dgm:pt modelId="{371DD1F0-A379-4773-A2D2-06961C4C786D}" type="parTrans" cxnId="{CED41FDF-9235-4876-8983-9BC4976056C0}">
      <dgm:prSet/>
      <dgm:spPr/>
      <dgm:t>
        <a:bodyPr/>
        <a:lstStyle/>
        <a:p>
          <a:endParaRPr lang="en-US"/>
        </a:p>
      </dgm:t>
    </dgm:pt>
    <dgm:pt modelId="{F7D1EC97-404C-4E65-B924-057DE492A6CC}" type="sibTrans" cxnId="{CED41FDF-9235-4876-8983-9BC4976056C0}">
      <dgm:prSet/>
      <dgm:spPr/>
      <dgm:t>
        <a:bodyPr/>
        <a:lstStyle/>
        <a:p>
          <a:endParaRPr lang="en-US"/>
        </a:p>
      </dgm:t>
    </dgm:pt>
    <dgm:pt modelId="{1379B84F-CFF9-4314-B674-61E9DC086148}">
      <dgm:prSet/>
      <dgm:spPr/>
      <dgm:t>
        <a:bodyPr/>
        <a:lstStyle/>
        <a:p>
          <a:r>
            <a:rPr lang="en-US"/>
            <a:t>Weaknesses: Trust gap vs. traditional advisors</a:t>
          </a:r>
        </a:p>
      </dgm:t>
    </dgm:pt>
    <dgm:pt modelId="{4F6F5AE3-F76A-46EE-B8E7-A5587445FF91}" type="parTrans" cxnId="{38BD98EE-F753-47B4-B8AA-3174328854E4}">
      <dgm:prSet/>
      <dgm:spPr/>
      <dgm:t>
        <a:bodyPr/>
        <a:lstStyle/>
        <a:p>
          <a:endParaRPr lang="en-US"/>
        </a:p>
      </dgm:t>
    </dgm:pt>
    <dgm:pt modelId="{10470933-DDDA-4677-B5BA-04BF7BB38606}" type="sibTrans" cxnId="{38BD98EE-F753-47B4-B8AA-3174328854E4}">
      <dgm:prSet/>
      <dgm:spPr/>
      <dgm:t>
        <a:bodyPr/>
        <a:lstStyle/>
        <a:p>
          <a:endParaRPr lang="en-US"/>
        </a:p>
      </dgm:t>
    </dgm:pt>
    <dgm:pt modelId="{1A5A73C4-4E8B-4171-BA1D-CD7415BA01C3}">
      <dgm:prSet/>
      <dgm:spPr/>
      <dgm:t>
        <a:bodyPr/>
        <a:lstStyle/>
        <a:p>
          <a:r>
            <a:rPr lang="en-US"/>
            <a:t>Opportunities: Regional expansion, AI personalization</a:t>
          </a:r>
        </a:p>
      </dgm:t>
    </dgm:pt>
    <dgm:pt modelId="{2ECBF0D9-27D7-44EB-8622-351537F9C2D4}" type="parTrans" cxnId="{50D82EA4-9973-4564-A9E6-3DE965E266A2}">
      <dgm:prSet/>
      <dgm:spPr/>
      <dgm:t>
        <a:bodyPr/>
        <a:lstStyle/>
        <a:p>
          <a:endParaRPr lang="en-US"/>
        </a:p>
      </dgm:t>
    </dgm:pt>
    <dgm:pt modelId="{5526FA8D-157C-4F14-A025-30331B48E901}" type="sibTrans" cxnId="{50D82EA4-9973-4564-A9E6-3DE965E266A2}">
      <dgm:prSet/>
      <dgm:spPr/>
      <dgm:t>
        <a:bodyPr/>
        <a:lstStyle/>
        <a:p>
          <a:endParaRPr lang="en-US"/>
        </a:p>
      </dgm:t>
    </dgm:pt>
    <dgm:pt modelId="{717F4B63-62CD-4887-A58F-0EF8ABE4E75B}">
      <dgm:prSet/>
      <dgm:spPr/>
      <dgm:t>
        <a:bodyPr/>
        <a:lstStyle/>
        <a:p>
          <a:r>
            <a:rPr lang="en-US"/>
            <a:t>Threats: Regulatory shifts, market volatility</a:t>
          </a:r>
        </a:p>
      </dgm:t>
    </dgm:pt>
    <dgm:pt modelId="{B7FB2305-4430-467A-B5A3-38E9FA8D448A}" type="parTrans" cxnId="{A3D7396C-14FC-4A70-9FEC-EFBEF2978750}">
      <dgm:prSet/>
      <dgm:spPr/>
      <dgm:t>
        <a:bodyPr/>
        <a:lstStyle/>
        <a:p>
          <a:endParaRPr lang="en-US"/>
        </a:p>
      </dgm:t>
    </dgm:pt>
    <dgm:pt modelId="{871C31EA-531E-45C1-8C2B-5B0CC0906159}" type="sibTrans" cxnId="{A3D7396C-14FC-4A70-9FEC-EFBEF2978750}">
      <dgm:prSet/>
      <dgm:spPr/>
      <dgm:t>
        <a:bodyPr/>
        <a:lstStyle/>
        <a:p>
          <a:endParaRPr lang="en-US"/>
        </a:p>
      </dgm:t>
    </dgm:pt>
    <dgm:pt modelId="{3F498CEF-4C27-403E-BD90-93556A1AABCE}" type="pres">
      <dgm:prSet presAssocID="{1463845E-F8C8-43FB-A9D9-3BD206E04760}" presName="diagram" presStyleCnt="0">
        <dgm:presLayoutVars>
          <dgm:dir/>
          <dgm:resizeHandles val="exact"/>
        </dgm:presLayoutVars>
      </dgm:prSet>
      <dgm:spPr/>
    </dgm:pt>
    <dgm:pt modelId="{CC329267-ECC7-4CC3-B7E0-EAAE346524EE}" type="pres">
      <dgm:prSet presAssocID="{00AD64CC-051A-46F3-B1A9-031320678335}" presName="node" presStyleLbl="node1" presStyleIdx="0" presStyleCnt="4">
        <dgm:presLayoutVars>
          <dgm:bulletEnabled val="1"/>
        </dgm:presLayoutVars>
      </dgm:prSet>
      <dgm:spPr/>
    </dgm:pt>
    <dgm:pt modelId="{68548FFB-CD1F-4E8C-929B-9F9D84765FE0}" type="pres">
      <dgm:prSet presAssocID="{F7D1EC97-404C-4E65-B924-057DE492A6CC}" presName="sibTrans" presStyleCnt="0"/>
      <dgm:spPr/>
    </dgm:pt>
    <dgm:pt modelId="{C4FA2DDA-492F-4FD4-ADDC-53D14EA6973E}" type="pres">
      <dgm:prSet presAssocID="{1379B84F-CFF9-4314-B674-61E9DC086148}" presName="node" presStyleLbl="node1" presStyleIdx="1" presStyleCnt="4">
        <dgm:presLayoutVars>
          <dgm:bulletEnabled val="1"/>
        </dgm:presLayoutVars>
      </dgm:prSet>
      <dgm:spPr/>
    </dgm:pt>
    <dgm:pt modelId="{00EAEABC-EC73-4B18-8653-E05BD89824CE}" type="pres">
      <dgm:prSet presAssocID="{10470933-DDDA-4677-B5BA-04BF7BB38606}" presName="sibTrans" presStyleCnt="0"/>
      <dgm:spPr/>
    </dgm:pt>
    <dgm:pt modelId="{313149A0-2D44-498A-9705-D7F02594FCA8}" type="pres">
      <dgm:prSet presAssocID="{1A5A73C4-4E8B-4171-BA1D-CD7415BA01C3}" presName="node" presStyleLbl="node1" presStyleIdx="2" presStyleCnt="4">
        <dgm:presLayoutVars>
          <dgm:bulletEnabled val="1"/>
        </dgm:presLayoutVars>
      </dgm:prSet>
      <dgm:spPr/>
    </dgm:pt>
    <dgm:pt modelId="{BC0DAEE4-A3DA-41E6-8400-F0CC910049FE}" type="pres">
      <dgm:prSet presAssocID="{5526FA8D-157C-4F14-A025-30331B48E901}" presName="sibTrans" presStyleCnt="0"/>
      <dgm:spPr/>
    </dgm:pt>
    <dgm:pt modelId="{38ADF994-2EBB-45D8-A18F-9C2409BE81D8}" type="pres">
      <dgm:prSet presAssocID="{717F4B63-62CD-4887-A58F-0EF8ABE4E75B}" presName="node" presStyleLbl="node1" presStyleIdx="3" presStyleCnt="4">
        <dgm:presLayoutVars>
          <dgm:bulletEnabled val="1"/>
        </dgm:presLayoutVars>
      </dgm:prSet>
      <dgm:spPr/>
    </dgm:pt>
  </dgm:ptLst>
  <dgm:cxnLst>
    <dgm:cxn modelId="{A3D7396C-14FC-4A70-9FEC-EFBEF2978750}" srcId="{1463845E-F8C8-43FB-A9D9-3BD206E04760}" destId="{717F4B63-62CD-4887-A58F-0EF8ABE4E75B}" srcOrd="3" destOrd="0" parTransId="{B7FB2305-4430-467A-B5A3-38E9FA8D448A}" sibTransId="{871C31EA-531E-45C1-8C2B-5B0CC0906159}"/>
    <dgm:cxn modelId="{CB2C9286-F242-4681-94FF-A0B0D8808810}" type="presOf" srcId="{717F4B63-62CD-4887-A58F-0EF8ABE4E75B}" destId="{38ADF994-2EBB-45D8-A18F-9C2409BE81D8}" srcOrd="0" destOrd="0" presId="urn:microsoft.com/office/officeart/2005/8/layout/default"/>
    <dgm:cxn modelId="{B5656398-7B6E-4AF2-9024-7F2F9D78DFA5}" type="presOf" srcId="{1463845E-F8C8-43FB-A9D9-3BD206E04760}" destId="{3F498CEF-4C27-403E-BD90-93556A1AABCE}" srcOrd="0" destOrd="0" presId="urn:microsoft.com/office/officeart/2005/8/layout/default"/>
    <dgm:cxn modelId="{50D82EA4-9973-4564-A9E6-3DE965E266A2}" srcId="{1463845E-F8C8-43FB-A9D9-3BD206E04760}" destId="{1A5A73C4-4E8B-4171-BA1D-CD7415BA01C3}" srcOrd="2" destOrd="0" parTransId="{2ECBF0D9-27D7-44EB-8622-351537F9C2D4}" sibTransId="{5526FA8D-157C-4F14-A025-30331B48E901}"/>
    <dgm:cxn modelId="{61B943A4-5032-4926-995B-3D8222513036}" type="presOf" srcId="{00AD64CC-051A-46F3-B1A9-031320678335}" destId="{CC329267-ECC7-4CC3-B7E0-EAAE346524EE}" srcOrd="0" destOrd="0" presId="urn:microsoft.com/office/officeart/2005/8/layout/default"/>
    <dgm:cxn modelId="{076D00DA-DB39-4849-A1E0-C189488E0488}" type="presOf" srcId="{1A5A73C4-4E8B-4171-BA1D-CD7415BA01C3}" destId="{313149A0-2D44-498A-9705-D7F02594FCA8}" srcOrd="0" destOrd="0" presId="urn:microsoft.com/office/officeart/2005/8/layout/default"/>
    <dgm:cxn modelId="{CED41FDF-9235-4876-8983-9BC4976056C0}" srcId="{1463845E-F8C8-43FB-A9D9-3BD206E04760}" destId="{00AD64CC-051A-46F3-B1A9-031320678335}" srcOrd="0" destOrd="0" parTransId="{371DD1F0-A379-4773-A2D2-06961C4C786D}" sibTransId="{F7D1EC97-404C-4E65-B924-057DE492A6CC}"/>
    <dgm:cxn modelId="{B2D1E5E3-5E15-4E44-A1DE-4E2BAC78BCCA}" type="presOf" srcId="{1379B84F-CFF9-4314-B674-61E9DC086148}" destId="{C4FA2DDA-492F-4FD4-ADDC-53D14EA6973E}" srcOrd="0" destOrd="0" presId="urn:microsoft.com/office/officeart/2005/8/layout/default"/>
    <dgm:cxn modelId="{38BD98EE-F753-47B4-B8AA-3174328854E4}" srcId="{1463845E-F8C8-43FB-A9D9-3BD206E04760}" destId="{1379B84F-CFF9-4314-B674-61E9DC086148}" srcOrd="1" destOrd="0" parTransId="{4F6F5AE3-F76A-46EE-B8E7-A5587445FF91}" sibTransId="{10470933-DDDA-4677-B5BA-04BF7BB38606}"/>
    <dgm:cxn modelId="{DB48E368-65AC-4308-902F-558A687E8FB1}" type="presParOf" srcId="{3F498CEF-4C27-403E-BD90-93556A1AABCE}" destId="{CC329267-ECC7-4CC3-B7E0-EAAE346524EE}" srcOrd="0" destOrd="0" presId="urn:microsoft.com/office/officeart/2005/8/layout/default"/>
    <dgm:cxn modelId="{079213F1-9FCB-4B5A-A881-E9A7C39D6B73}" type="presParOf" srcId="{3F498CEF-4C27-403E-BD90-93556A1AABCE}" destId="{68548FFB-CD1F-4E8C-929B-9F9D84765FE0}" srcOrd="1" destOrd="0" presId="urn:microsoft.com/office/officeart/2005/8/layout/default"/>
    <dgm:cxn modelId="{CF235BFC-F22E-49B3-A315-1B33A5F93B17}" type="presParOf" srcId="{3F498CEF-4C27-403E-BD90-93556A1AABCE}" destId="{C4FA2DDA-492F-4FD4-ADDC-53D14EA6973E}" srcOrd="2" destOrd="0" presId="urn:microsoft.com/office/officeart/2005/8/layout/default"/>
    <dgm:cxn modelId="{4BCE77F4-77C6-4A98-B7B1-A35E5D2D90C0}" type="presParOf" srcId="{3F498CEF-4C27-403E-BD90-93556A1AABCE}" destId="{00EAEABC-EC73-4B18-8653-E05BD89824CE}" srcOrd="3" destOrd="0" presId="urn:microsoft.com/office/officeart/2005/8/layout/default"/>
    <dgm:cxn modelId="{646A86CF-BCE9-4F3E-9D1C-799CE85855D5}" type="presParOf" srcId="{3F498CEF-4C27-403E-BD90-93556A1AABCE}" destId="{313149A0-2D44-498A-9705-D7F02594FCA8}" srcOrd="4" destOrd="0" presId="urn:microsoft.com/office/officeart/2005/8/layout/default"/>
    <dgm:cxn modelId="{42193EB8-453D-42F8-BA30-DEB884DA6379}" type="presParOf" srcId="{3F498CEF-4C27-403E-BD90-93556A1AABCE}" destId="{BC0DAEE4-A3DA-41E6-8400-F0CC910049FE}" srcOrd="5" destOrd="0" presId="urn:microsoft.com/office/officeart/2005/8/layout/default"/>
    <dgm:cxn modelId="{83589D33-9254-48AF-895D-82DC697C8627}" type="presParOf" srcId="{3F498CEF-4C27-403E-BD90-93556A1AABCE}" destId="{38ADF994-2EBB-45D8-A18F-9C2409BE81D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E7B97A-B925-4D70-B05B-CC9699F3549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A8DB61-0AF6-4467-9F50-7D9251656D47}">
      <dgm:prSet/>
      <dgm:spPr/>
      <dgm:t>
        <a:bodyPr/>
        <a:lstStyle/>
        <a:p>
          <a:r>
            <a:rPr lang="en-US"/>
            <a:t>New Entrants: Medium – low barriers but trust matters</a:t>
          </a:r>
        </a:p>
      </dgm:t>
    </dgm:pt>
    <dgm:pt modelId="{2AE468C2-6C70-4029-AE44-FF33D99875D7}" type="parTrans" cxnId="{8C88B0C2-17D5-4E95-9DDF-B09FAD11BDC5}">
      <dgm:prSet/>
      <dgm:spPr/>
      <dgm:t>
        <a:bodyPr/>
        <a:lstStyle/>
        <a:p>
          <a:endParaRPr lang="en-US"/>
        </a:p>
      </dgm:t>
    </dgm:pt>
    <dgm:pt modelId="{00978357-AA71-4DC0-A531-153BB01182AD}" type="sibTrans" cxnId="{8C88B0C2-17D5-4E95-9DDF-B09FAD11BDC5}">
      <dgm:prSet/>
      <dgm:spPr/>
      <dgm:t>
        <a:bodyPr/>
        <a:lstStyle/>
        <a:p>
          <a:endParaRPr lang="en-US"/>
        </a:p>
      </dgm:t>
    </dgm:pt>
    <dgm:pt modelId="{F52F4FD4-F71E-4251-98E1-803EE36FC15A}">
      <dgm:prSet/>
      <dgm:spPr/>
      <dgm:t>
        <a:bodyPr/>
        <a:lstStyle/>
        <a:p>
          <a:r>
            <a:rPr lang="en-US"/>
            <a:t>Buyer Power: High – price-sensitive, low switching costs</a:t>
          </a:r>
        </a:p>
      </dgm:t>
    </dgm:pt>
    <dgm:pt modelId="{8F1C572F-7950-487D-8C84-624689B266F3}" type="parTrans" cxnId="{528581C1-D271-400F-9225-26C1F73ED227}">
      <dgm:prSet/>
      <dgm:spPr/>
      <dgm:t>
        <a:bodyPr/>
        <a:lstStyle/>
        <a:p>
          <a:endParaRPr lang="en-US"/>
        </a:p>
      </dgm:t>
    </dgm:pt>
    <dgm:pt modelId="{521352F4-013A-46F4-8A37-E9813348FC71}" type="sibTrans" cxnId="{528581C1-D271-400F-9225-26C1F73ED227}">
      <dgm:prSet/>
      <dgm:spPr/>
      <dgm:t>
        <a:bodyPr/>
        <a:lstStyle/>
        <a:p>
          <a:endParaRPr lang="en-US"/>
        </a:p>
      </dgm:t>
    </dgm:pt>
    <dgm:pt modelId="{6B1F6888-8AFE-47CB-8AE1-D293F97C6514}">
      <dgm:prSet/>
      <dgm:spPr/>
      <dgm:t>
        <a:bodyPr/>
        <a:lstStyle/>
        <a:p>
          <a:r>
            <a:rPr lang="en-US"/>
            <a:t>Supplier Power: Low – APIs and data commoditized</a:t>
          </a:r>
        </a:p>
      </dgm:t>
    </dgm:pt>
    <dgm:pt modelId="{E1A00936-660E-4554-B319-B549CC66C4D3}" type="parTrans" cxnId="{052FDEC9-3076-46A9-88C7-1414BF4C86F1}">
      <dgm:prSet/>
      <dgm:spPr/>
      <dgm:t>
        <a:bodyPr/>
        <a:lstStyle/>
        <a:p>
          <a:endParaRPr lang="en-US"/>
        </a:p>
      </dgm:t>
    </dgm:pt>
    <dgm:pt modelId="{40D3BE5F-BA2B-45B7-9C24-DA306DC4DF1C}" type="sibTrans" cxnId="{052FDEC9-3076-46A9-88C7-1414BF4C86F1}">
      <dgm:prSet/>
      <dgm:spPr/>
      <dgm:t>
        <a:bodyPr/>
        <a:lstStyle/>
        <a:p>
          <a:endParaRPr lang="en-US"/>
        </a:p>
      </dgm:t>
    </dgm:pt>
    <dgm:pt modelId="{8B0A747B-68FC-4B58-AE38-CE89352CB6A1}">
      <dgm:prSet/>
      <dgm:spPr/>
      <dgm:t>
        <a:bodyPr/>
        <a:lstStyle/>
        <a:p>
          <a:r>
            <a:rPr lang="en-US"/>
            <a:t>Substitutes: Medium – DIY investing, traditional advisors</a:t>
          </a:r>
        </a:p>
      </dgm:t>
    </dgm:pt>
    <dgm:pt modelId="{7D75554B-D64B-42A4-8B0A-824F7B6DD9A2}" type="parTrans" cxnId="{D98DADA6-D7F9-4FC0-9789-A37B1143F2AA}">
      <dgm:prSet/>
      <dgm:spPr/>
      <dgm:t>
        <a:bodyPr/>
        <a:lstStyle/>
        <a:p>
          <a:endParaRPr lang="en-US"/>
        </a:p>
      </dgm:t>
    </dgm:pt>
    <dgm:pt modelId="{08B93EC5-F7BD-4819-97A2-CE17D7FFD296}" type="sibTrans" cxnId="{D98DADA6-D7F9-4FC0-9789-A37B1143F2AA}">
      <dgm:prSet/>
      <dgm:spPr/>
      <dgm:t>
        <a:bodyPr/>
        <a:lstStyle/>
        <a:p>
          <a:endParaRPr lang="en-US"/>
        </a:p>
      </dgm:t>
    </dgm:pt>
    <dgm:pt modelId="{234934DE-999C-42E5-B8FF-53301111E7EC}">
      <dgm:prSet/>
      <dgm:spPr/>
      <dgm:t>
        <a:bodyPr/>
        <a:lstStyle/>
        <a:p>
          <a:r>
            <a:rPr lang="en-US"/>
            <a:t>Rivalry: High – many players, low differentiation</a:t>
          </a:r>
        </a:p>
      </dgm:t>
    </dgm:pt>
    <dgm:pt modelId="{92CE7EAC-300B-4E75-BE82-BD8B9CC4A46B}" type="parTrans" cxnId="{760DC8CB-FFF9-4B84-BCF6-35230F37C0B1}">
      <dgm:prSet/>
      <dgm:spPr/>
      <dgm:t>
        <a:bodyPr/>
        <a:lstStyle/>
        <a:p>
          <a:endParaRPr lang="en-US"/>
        </a:p>
      </dgm:t>
    </dgm:pt>
    <dgm:pt modelId="{8CE616B2-8F47-487E-9162-01B7F0EC887E}" type="sibTrans" cxnId="{760DC8CB-FFF9-4B84-BCF6-35230F37C0B1}">
      <dgm:prSet/>
      <dgm:spPr/>
      <dgm:t>
        <a:bodyPr/>
        <a:lstStyle/>
        <a:p>
          <a:endParaRPr lang="en-US"/>
        </a:p>
      </dgm:t>
    </dgm:pt>
    <dgm:pt modelId="{3684AB6E-8EB0-441B-A365-8C9F8C565304}" type="pres">
      <dgm:prSet presAssocID="{6CE7B97A-B925-4D70-B05B-CC9699F35491}" presName="diagram" presStyleCnt="0">
        <dgm:presLayoutVars>
          <dgm:dir/>
          <dgm:resizeHandles val="exact"/>
        </dgm:presLayoutVars>
      </dgm:prSet>
      <dgm:spPr/>
    </dgm:pt>
    <dgm:pt modelId="{15A7E359-5112-40E1-B018-CB4527F1E256}" type="pres">
      <dgm:prSet presAssocID="{9AA8DB61-0AF6-4467-9F50-7D9251656D47}" presName="node" presStyleLbl="node1" presStyleIdx="0" presStyleCnt="5">
        <dgm:presLayoutVars>
          <dgm:bulletEnabled val="1"/>
        </dgm:presLayoutVars>
      </dgm:prSet>
      <dgm:spPr/>
    </dgm:pt>
    <dgm:pt modelId="{77AA199C-8ADC-4A73-91DB-ED88BCEFA285}" type="pres">
      <dgm:prSet presAssocID="{00978357-AA71-4DC0-A531-153BB01182AD}" presName="sibTrans" presStyleCnt="0"/>
      <dgm:spPr/>
    </dgm:pt>
    <dgm:pt modelId="{B46D1C6B-F378-4AFD-A13A-4F4394D0F50B}" type="pres">
      <dgm:prSet presAssocID="{F52F4FD4-F71E-4251-98E1-803EE36FC15A}" presName="node" presStyleLbl="node1" presStyleIdx="1" presStyleCnt="5">
        <dgm:presLayoutVars>
          <dgm:bulletEnabled val="1"/>
        </dgm:presLayoutVars>
      </dgm:prSet>
      <dgm:spPr/>
    </dgm:pt>
    <dgm:pt modelId="{D62A9705-8B33-4572-9F0F-1EE93529CC78}" type="pres">
      <dgm:prSet presAssocID="{521352F4-013A-46F4-8A37-E9813348FC71}" presName="sibTrans" presStyleCnt="0"/>
      <dgm:spPr/>
    </dgm:pt>
    <dgm:pt modelId="{04DC48B0-39C5-44AF-B2DF-B0757AFDCE8B}" type="pres">
      <dgm:prSet presAssocID="{6B1F6888-8AFE-47CB-8AE1-D293F97C6514}" presName="node" presStyleLbl="node1" presStyleIdx="2" presStyleCnt="5">
        <dgm:presLayoutVars>
          <dgm:bulletEnabled val="1"/>
        </dgm:presLayoutVars>
      </dgm:prSet>
      <dgm:spPr/>
    </dgm:pt>
    <dgm:pt modelId="{52F18D68-15E8-4CD6-96D9-7B90C9B51F79}" type="pres">
      <dgm:prSet presAssocID="{40D3BE5F-BA2B-45B7-9C24-DA306DC4DF1C}" presName="sibTrans" presStyleCnt="0"/>
      <dgm:spPr/>
    </dgm:pt>
    <dgm:pt modelId="{3AB3EEA6-2CE5-4B8B-9BDE-84705CB15557}" type="pres">
      <dgm:prSet presAssocID="{8B0A747B-68FC-4B58-AE38-CE89352CB6A1}" presName="node" presStyleLbl="node1" presStyleIdx="3" presStyleCnt="5">
        <dgm:presLayoutVars>
          <dgm:bulletEnabled val="1"/>
        </dgm:presLayoutVars>
      </dgm:prSet>
      <dgm:spPr/>
    </dgm:pt>
    <dgm:pt modelId="{CA444713-1F6C-4C66-BD01-9529119CD5EA}" type="pres">
      <dgm:prSet presAssocID="{08B93EC5-F7BD-4819-97A2-CE17D7FFD296}" presName="sibTrans" presStyleCnt="0"/>
      <dgm:spPr/>
    </dgm:pt>
    <dgm:pt modelId="{547D71B6-4A81-4374-B107-C9D8701134BB}" type="pres">
      <dgm:prSet presAssocID="{234934DE-999C-42E5-B8FF-53301111E7EC}" presName="node" presStyleLbl="node1" presStyleIdx="4" presStyleCnt="5">
        <dgm:presLayoutVars>
          <dgm:bulletEnabled val="1"/>
        </dgm:presLayoutVars>
      </dgm:prSet>
      <dgm:spPr/>
    </dgm:pt>
  </dgm:ptLst>
  <dgm:cxnLst>
    <dgm:cxn modelId="{91DECD1B-D7D7-45B1-8F5A-4CA589F94395}" type="presOf" srcId="{6CE7B97A-B925-4D70-B05B-CC9699F35491}" destId="{3684AB6E-8EB0-441B-A365-8C9F8C565304}" srcOrd="0" destOrd="0" presId="urn:microsoft.com/office/officeart/2005/8/layout/default"/>
    <dgm:cxn modelId="{7FE6402C-5774-495E-9440-9FE694060D23}" type="presOf" srcId="{F52F4FD4-F71E-4251-98E1-803EE36FC15A}" destId="{B46D1C6B-F378-4AFD-A13A-4F4394D0F50B}" srcOrd="0" destOrd="0" presId="urn:microsoft.com/office/officeart/2005/8/layout/default"/>
    <dgm:cxn modelId="{A6D53C40-F738-4A2B-9D4F-77949619FDA2}" type="presOf" srcId="{234934DE-999C-42E5-B8FF-53301111E7EC}" destId="{547D71B6-4A81-4374-B107-C9D8701134BB}" srcOrd="0" destOrd="0" presId="urn:microsoft.com/office/officeart/2005/8/layout/default"/>
    <dgm:cxn modelId="{E3E2756A-80DD-4494-9864-0846A2B28252}" type="presOf" srcId="{6B1F6888-8AFE-47CB-8AE1-D293F97C6514}" destId="{04DC48B0-39C5-44AF-B2DF-B0757AFDCE8B}" srcOrd="0" destOrd="0" presId="urn:microsoft.com/office/officeart/2005/8/layout/default"/>
    <dgm:cxn modelId="{236026A3-376B-4881-B76E-323AC572227E}" type="presOf" srcId="{8B0A747B-68FC-4B58-AE38-CE89352CB6A1}" destId="{3AB3EEA6-2CE5-4B8B-9BDE-84705CB15557}" srcOrd="0" destOrd="0" presId="urn:microsoft.com/office/officeart/2005/8/layout/default"/>
    <dgm:cxn modelId="{D98DADA6-D7F9-4FC0-9789-A37B1143F2AA}" srcId="{6CE7B97A-B925-4D70-B05B-CC9699F35491}" destId="{8B0A747B-68FC-4B58-AE38-CE89352CB6A1}" srcOrd="3" destOrd="0" parTransId="{7D75554B-D64B-42A4-8B0A-824F7B6DD9A2}" sibTransId="{08B93EC5-F7BD-4819-97A2-CE17D7FFD296}"/>
    <dgm:cxn modelId="{528581C1-D271-400F-9225-26C1F73ED227}" srcId="{6CE7B97A-B925-4D70-B05B-CC9699F35491}" destId="{F52F4FD4-F71E-4251-98E1-803EE36FC15A}" srcOrd="1" destOrd="0" parTransId="{8F1C572F-7950-487D-8C84-624689B266F3}" sibTransId="{521352F4-013A-46F4-8A37-E9813348FC71}"/>
    <dgm:cxn modelId="{8C88B0C2-17D5-4E95-9DDF-B09FAD11BDC5}" srcId="{6CE7B97A-B925-4D70-B05B-CC9699F35491}" destId="{9AA8DB61-0AF6-4467-9F50-7D9251656D47}" srcOrd="0" destOrd="0" parTransId="{2AE468C2-6C70-4029-AE44-FF33D99875D7}" sibTransId="{00978357-AA71-4DC0-A531-153BB01182AD}"/>
    <dgm:cxn modelId="{052FDEC9-3076-46A9-88C7-1414BF4C86F1}" srcId="{6CE7B97A-B925-4D70-B05B-CC9699F35491}" destId="{6B1F6888-8AFE-47CB-8AE1-D293F97C6514}" srcOrd="2" destOrd="0" parTransId="{E1A00936-660E-4554-B319-B549CC66C4D3}" sibTransId="{40D3BE5F-BA2B-45B7-9C24-DA306DC4DF1C}"/>
    <dgm:cxn modelId="{760DC8CB-FFF9-4B84-BCF6-35230F37C0B1}" srcId="{6CE7B97A-B925-4D70-B05B-CC9699F35491}" destId="{234934DE-999C-42E5-B8FF-53301111E7EC}" srcOrd="4" destOrd="0" parTransId="{92CE7EAC-300B-4E75-BE82-BD8B9CC4A46B}" sibTransId="{8CE616B2-8F47-487E-9162-01B7F0EC887E}"/>
    <dgm:cxn modelId="{0295CDF5-53F6-4848-8387-3B1DE36BAD06}" type="presOf" srcId="{9AA8DB61-0AF6-4467-9F50-7D9251656D47}" destId="{15A7E359-5112-40E1-B018-CB4527F1E256}" srcOrd="0" destOrd="0" presId="urn:microsoft.com/office/officeart/2005/8/layout/default"/>
    <dgm:cxn modelId="{25BB234A-BF38-4801-9D92-6F6EA3EC9B5F}" type="presParOf" srcId="{3684AB6E-8EB0-441B-A365-8C9F8C565304}" destId="{15A7E359-5112-40E1-B018-CB4527F1E256}" srcOrd="0" destOrd="0" presId="urn:microsoft.com/office/officeart/2005/8/layout/default"/>
    <dgm:cxn modelId="{17429D6F-71C9-4154-8427-81799432C383}" type="presParOf" srcId="{3684AB6E-8EB0-441B-A365-8C9F8C565304}" destId="{77AA199C-8ADC-4A73-91DB-ED88BCEFA285}" srcOrd="1" destOrd="0" presId="urn:microsoft.com/office/officeart/2005/8/layout/default"/>
    <dgm:cxn modelId="{0B99EC0B-8367-4AED-BFEA-9243A8C5F777}" type="presParOf" srcId="{3684AB6E-8EB0-441B-A365-8C9F8C565304}" destId="{B46D1C6B-F378-4AFD-A13A-4F4394D0F50B}" srcOrd="2" destOrd="0" presId="urn:microsoft.com/office/officeart/2005/8/layout/default"/>
    <dgm:cxn modelId="{0210399F-BBC0-4348-B620-7A14FC0413CB}" type="presParOf" srcId="{3684AB6E-8EB0-441B-A365-8C9F8C565304}" destId="{D62A9705-8B33-4572-9F0F-1EE93529CC78}" srcOrd="3" destOrd="0" presId="urn:microsoft.com/office/officeart/2005/8/layout/default"/>
    <dgm:cxn modelId="{98A4E772-7DFC-4F16-86AF-720A26434B23}" type="presParOf" srcId="{3684AB6E-8EB0-441B-A365-8C9F8C565304}" destId="{04DC48B0-39C5-44AF-B2DF-B0757AFDCE8B}" srcOrd="4" destOrd="0" presId="urn:microsoft.com/office/officeart/2005/8/layout/default"/>
    <dgm:cxn modelId="{F917C235-DC5A-4DA7-B7A7-C6D8EC8C451A}" type="presParOf" srcId="{3684AB6E-8EB0-441B-A365-8C9F8C565304}" destId="{52F18D68-15E8-4CD6-96D9-7B90C9B51F79}" srcOrd="5" destOrd="0" presId="urn:microsoft.com/office/officeart/2005/8/layout/default"/>
    <dgm:cxn modelId="{2F97FBAB-3E37-4BFF-8A35-00331E079519}" type="presParOf" srcId="{3684AB6E-8EB0-441B-A365-8C9F8C565304}" destId="{3AB3EEA6-2CE5-4B8B-9BDE-84705CB15557}" srcOrd="6" destOrd="0" presId="urn:microsoft.com/office/officeart/2005/8/layout/default"/>
    <dgm:cxn modelId="{46D87B29-4403-42C5-B326-3FDB4C97B91C}" type="presParOf" srcId="{3684AB6E-8EB0-441B-A365-8C9F8C565304}" destId="{CA444713-1F6C-4C66-BD01-9529119CD5EA}" srcOrd="7" destOrd="0" presId="urn:microsoft.com/office/officeart/2005/8/layout/default"/>
    <dgm:cxn modelId="{6C63A28D-F517-4074-89F8-7D09E3F4C6F3}" type="presParOf" srcId="{3684AB6E-8EB0-441B-A365-8C9F8C565304}" destId="{547D71B6-4A81-4374-B107-C9D8701134B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1D38A5-4F4D-4239-8B94-87A83FF1F50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DD1713-ADEF-4BFA-89AC-5109B85FCDE0}">
      <dgm:prSet/>
      <dgm:spPr/>
      <dgm:t>
        <a:bodyPr/>
        <a:lstStyle/>
        <a:p>
          <a:r>
            <a:rPr lang="en-US"/>
            <a:t>SQL scripting: ✅ Strong match</a:t>
          </a:r>
        </a:p>
      </dgm:t>
    </dgm:pt>
    <dgm:pt modelId="{484E2F67-06DB-4CA6-99E9-9F0C5BB9B8BB}" type="parTrans" cxnId="{C8C3183F-6CCB-4DA1-A3EA-F1A3736E1179}">
      <dgm:prSet/>
      <dgm:spPr/>
      <dgm:t>
        <a:bodyPr/>
        <a:lstStyle/>
        <a:p>
          <a:endParaRPr lang="en-US"/>
        </a:p>
      </dgm:t>
    </dgm:pt>
    <dgm:pt modelId="{DB83601D-296F-42FB-BE66-3DE891E40921}" type="sibTrans" cxnId="{C8C3183F-6CCB-4DA1-A3EA-F1A3736E1179}">
      <dgm:prSet/>
      <dgm:spPr/>
      <dgm:t>
        <a:bodyPr/>
        <a:lstStyle/>
        <a:p>
          <a:endParaRPr lang="en-US"/>
        </a:p>
      </dgm:t>
    </dgm:pt>
    <dgm:pt modelId="{FB56E52F-59C3-42AB-8FC7-14F653D18B2B}">
      <dgm:prSet/>
      <dgm:spPr/>
      <dgm:t>
        <a:bodyPr/>
        <a:lstStyle/>
        <a:p>
          <a:r>
            <a:rPr lang="en-US"/>
            <a:t>Dashboard development: ✅ Strong match</a:t>
          </a:r>
        </a:p>
      </dgm:t>
    </dgm:pt>
    <dgm:pt modelId="{69D8030A-DA12-47FA-851D-4ED9630CA350}" type="parTrans" cxnId="{F1378349-6C01-43A4-B9EE-CC8910E0F90E}">
      <dgm:prSet/>
      <dgm:spPr/>
      <dgm:t>
        <a:bodyPr/>
        <a:lstStyle/>
        <a:p>
          <a:endParaRPr lang="en-US"/>
        </a:p>
      </dgm:t>
    </dgm:pt>
    <dgm:pt modelId="{4473FE64-07A4-4372-96F8-559CFE697EE0}" type="sibTrans" cxnId="{F1378349-6C01-43A4-B9EE-CC8910E0F90E}">
      <dgm:prSet/>
      <dgm:spPr/>
      <dgm:t>
        <a:bodyPr/>
        <a:lstStyle/>
        <a:p>
          <a:endParaRPr lang="en-US"/>
        </a:p>
      </dgm:t>
    </dgm:pt>
    <dgm:pt modelId="{F6CECBCA-C22B-48F2-B508-F76D8E5EF7A5}">
      <dgm:prSet/>
      <dgm:spPr/>
      <dgm:t>
        <a:bodyPr/>
        <a:lstStyle/>
        <a:p>
          <a:r>
            <a:rPr lang="en-US"/>
            <a:t>ETL &amp; data pipelines: ✅ Strong match</a:t>
          </a:r>
        </a:p>
      </dgm:t>
    </dgm:pt>
    <dgm:pt modelId="{735A0340-9EE1-45C2-A2A6-193EE55B3AC1}" type="parTrans" cxnId="{CC0CB008-088B-4A3C-86A3-09697FF7E5BD}">
      <dgm:prSet/>
      <dgm:spPr/>
      <dgm:t>
        <a:bodyPr/>
        <a:lstStyle/>
        <a:p>
          <a:endParaRPr lang="en-US"/>
        </a:p>
      </dgm:t>
    </dgm:pt>
    <dgm:pt modelId="{3D208F16-F008-4B47-835C-A953F9C69E74}" type="sibTrans" cxnId="{CC0CB008-088B-4A3C-86A3-09697FF7E5BD}">
      <dgm:prSet/>
      <dgm:spPr/>
      <dgm:t>
        <a:bodyPr/>
        <a:lstStyle/>
        <a:p>
          <a:endParaRPr lang="en-US"/>
        </a:p>
      </dgm:t>
    </dgm:pt>
    <dgm:pt modelId="{B1555104-55D0-4E49-AE18-A600E0770FB4}">
      <dgm:prSet/>
      <dgm:spPr/>
      <dgm:t>
        <a:bodyPr/>
        <a:lstStyle/>
        <a:p>
          <a:r>
            <a:rPr lang="en-US"/>
            <a:t>Fintech experience: ⚠️ Partial match</a:t>
          </a:r>
        </a:p>
      </dgm:t>
    </dgm:pt>
    <dgm:pt modelId="{12505629-0511-4C1C-A0FD-18A2406D10C7}" type="parTrans" cxnId="{89E2EC20-07A0-44EC-87E8-63F9192BEDA9}">
      <dgm:prSet/>
      <dgm:spPr/>
      <dgm:t>
        <a:bodyPr/>
        <a:lstStyle/>
        <a:p>
          <a:endParaRPr lang="en-US"/>
        </a:p>
      </dgm:t>
    </dgm:pt>
    <dgm:pt modelId="{A625915D-A137-4742-99CE-F9D3FCF2BAA7}" type="sibTrans" cxnId="{89E2EC20-07A0-44EC-87E8-63F9192BEDA9}">
      <dgm:prSet/>
      <dgm:spPr/>
      <dgm:t>
        <a:bodyPr/>
        <a:lstStyle/>
        <a:p>
          <a:endParaRPr lang="en-US"/>
        </a:p>
      </dgm:t>
    </dgm:pt>
    <dgm:pt modelId="{5C348B6E-AD8F-4E6C-A1B2-7DC2EE591286}">
      <dgm:prSet/>
      <dgm:spPr/>
      <dgm:t>
        <a:bodyPr/>
        <a:lstStyle/>
        <a:p>
          <a:r>
            <a:rPr lang="en-US"/>
            <a:t>Excel Macros / GSheet Scripts: ⚠️ Learning in progress</a:t>
          </a:r>
        </a:p>
      </dgm:t>
    </dgm:pt>
    <dgm:pt modelId="{5A440D17-E747-45AD-9430-F1419CC2D6EB}" type="parTrans" cxnId="{F1C15B4B-125B-40EB-B9E2-FE1C45D127BB}">
      <dgm:prSet/>
      <dgm:spPr/>
      <dgm:t>
        <a:bodyPr/>
        <a:lstStyle/>
        <a:p>
          <a:endParaRPr lang="en-US"/>
        </a:p>
      </dgm:t>
    </dgm:pt>
    <dgm:pt modelId="{15100110-B534-44EC-8FDC-7D01CC18BD1C}" type="sibTrans" cxnId="{F1C15B4B-125B-40EB-B9E2-FE1C45D127BB}">
      <dgm:prSet/>
      <dgm:spPr/>
      <dgm:t>
        <a:bodyPr/>
        <a:lstStyle/>
        <a:p>
          <a:endParaRPr lang="en-US"/>
        </a:p>
      </dgm:t>
    </dgm:pt>
    <dgm:pt modelId="{C19CAD61-489F-42BB-85A5-0584CEC43AB8}">
      <dgm:prSet/>
      <dgm:spPr/>
      <dgm:t>
        <a:bodyPr/>
        <a:lstStyle/>
        <a:p>
          <a:r>
            <a:rPr lang="en-US"/>
            <a:t>Ops domain knowledge: ❌ Gap – no direct banking ops</a:t>
          </a:r>
        </a:p>
      </dgm:t>
    </dgm:pt>
    <dgm:pt modelId="{31CAA4D5-7E82-4895-858C-C54481CB238C}" type="parTrans" cxnId="{217BF485-8BC6-4906-868C-FB3454F082A6}">
      <dgm:prSet/>
      <dgm:spPr/>
      <dgm:t>
        <a:bodyPr/>
        <a:lstStyle/>
        <a:p>
          <a:endParaRPr lang="en-US"/>
        </a:p>
      </dgm:t>
    </dgm:pt>
    <dgm:pt modelId="{B88EC6E3-FDDE-4920-8DB0-353B87F91990}" type="sibTrans" cxnId="{217BF485-8BC6-4906-868C-FB3454F082A6}">
      <dgm:prSet/>
      <dgm:spPr/>
      <dgm:t>
        <a:bodyPr/>
        <a:lstStyle/>
        <a:p>
          <a:endParaRPr lang="en-US"/>
        </a:p>
      </dgm:t>
    </dgm:pt>
    <dgm:pt modelId="{15167FFD-46FB-40E3-87F7-E958A9A59C7D}">
      <dgm:prSet/>
      <dgm:spPr/>
      <dgm:t>
        <a:bodyPr/>
        <a:lstStyle/>
        <a:p>
          <a:r>
            <a:rPr lang="en-US"/>
            <a:t>Problem-solving &amp; adaptability: ✅ Strong match</a:t>
          </a:r>
        </a:p>
      </dgm:t>
    </dgm:pt>
    <dgm:pt modelId="{3441BC1F-1473-43A4-A6DC-B7E2C056974C}" type="parTrans" cxnId="{E1D56AE5-925F-4A95-A30C-1638200D717E}">
      <dgm:prSet/>
      <dgm:spPr/>
      <dgm:t>
        <a:bodyPr/>
        <a:lstStyle/>
        <a:p>
          <a:endParaRPr lang="en-US"/>
        </a:p>
      </dgm:t>
    </dgm:pt>
    <dgm:pt modelId="{655BCF45-4F36-4B10-B11F-EB04E023A943}" type="sibTrans" cxnId="{E1D56AE5-925F-4A95-A30C-1638200D717E}">
      <dgm:prSet/>
      <dgm:spPr/>
      <dgm:t>
        <a:bodyPr/>
        <a:lstStyle/>
        <a:p>
          <a:endParaRPr lang="en-US"/>
        </a:p>
      </dgm:t>
    </dgm:pt>
    <dgm:pt modelId="{9C9CD3AB-F044-4F26-8DC4-4A1CC3922E38}" type="pres">
      <dgm:prSet presAssocID="{1F1D38A5-4F4D-4239-8B94-87A83FF1F501}" presName="diagram" presStyleCnt="0">
        <dgm:presLayoutVars>
          <dgm:dir/>
          <dgm:resizeHandles val="exact"/>
        </dgm:presLayoutVars>
      </dgm:prSet>
      <dgm:spPr/>
    </dgm:pt>
    <dgm:pt modelId="{E98516A5-F8E2-4CCB-B40F-7FAD90BE04F6}" type="pres">
      <dgm:prSet presAssocID="{A7DD1713-ADEF-4BFA-89AC-5109B85FCDE0}" presName="node" presStyleLbl="node1" presStyleIdx="0" presStyleCnt="7">
        <dgm:presLayoutVars>
          <dgm:bulletEnabled val="1"/>
        </dgm:presLayoutVars>
      </dgm:prSet>
      <dgm:spPr/>
    </dgm:pt>
    <dgm:pt modelId="{B01A39B9-6974-4266-B103-3C9550E5CEB9}" type="pres">
      <dgm:prSet presAssocID="{DB83601D-296F-42FB-BE66-3DE891E40921}" presName="sibTrans" presStyleCnt="0"/>
      <dgm:spPr/>
    </dgm:pt>
    <dgm:pt modelId="{D55AEFC2-7A80-45AB-B8A4-D191E7B728A7}" type="pres">
      <dgm:prSet presAssocID="{FB56E52F-59C3-42AB-8FC7-14F653D18B2B}" presName="node" presStyleLbl="node1" presStyleIdx="1" presStyleCnt="7">
        <dgm:presLayoutVars>
          <dgm:bulletEnabled val="1"/>
        </dgm:presLayoutVars>
      </dgm:prSet>
      <dgm:spPr/>
    </dgm:pt>
    <dgm:pt modelId="{551067E9-7AE1-4AEC-9AA3-346938619043}" type="pres">
      <dgm:prSet presAssocID="{4473FE64-07A4-4372-96F8-559CFE697EE0}" presName="sibTrans" presStyleCnt="0"/>
      <dgm:spPr/>
    </dgm:pt>
    <dgm:pt modelId="{2128E9BA-6081-4AC7-947B-076A078DC2EF}" type="pres">
      <dgm:prSet presAssocID="{F6CECBCA-C22B-48F2-B508-F76D8E5EF7A5}" presName="node" presStyleLbl="node1" presStyleIdx="2" presStyleCnt="7">
        <dgm:presLayoutVars>
          <dgm:bulletEnabled val="1"/>
        </dgm:presLayoutVars>
      </dgm:prSet>
      <dgm:spPr/>
    </dgm:pt>
    <dgm:pt modelId="{59F57B97-F338-4A0F-A278-3DCE22D625C7}" type="pres">
      <dgm:prSet presAssocID="{3D208F16-F008-4B47-835C-A953F9C69E74}" presName="sibTrans" presStyleCnt="0"/>
      <dgm:spPr/>
    </dgm:pt>
    <dgm:pt modelId="{AF1140EC-AF97-4250-A5C6-868E230EE08F}" type="pres">
      <dgm:prSet presAssocID="{B1555104-55D0-4E49-AE18-A600E0770FB4}" presName="node" presStyleLbl="node1" presStyleIdx="3" presStyleCnt="7">
        <dgm:presLayoutVars>
          <dgm:bulletEnabled val="1"/>
        </dgm:presLayoutVars>
      </dgm:prSet>
      <dgm:spPr/>
    </dgm:pt>
    <dgm:pt modelId="{F7E96250-447E-46B5-B534-8C169CA91680}" type="pres">
      <dgm:prSet presAssocID="{A625915D-A137-4742-99CE-F9D3FCF2BAA7}" presName="sibTrans" presStyleCnt="0"/>
      <dgm:spPr/>
    </dgm:pt>
    <dgm:pt modelId="{BFCA3279-2EF7-4C6C-AB14-168921C5030A}" type="pres">
      <dgm:prSet presAssocID="{5C348B6E-AD8F-4E6C-A1B2-7DC2EE591286}" presName="node" presStyleLbl="node1" presStyleIdx="4" presStyleCnt="7">
        <dgm:presLayoutVars>
          <dgm:bulletEnabled val="1"/>
        </dgm:presLayoutVars>
      </dgm:prSet>
      <dgm:spPr/>
    </dgm:pt>
    <dgm:pt modelId="{25B42A55-EE1D-47F4-863F-ADE749DB1442}" type="pres">
      <dgm:prSet presAssocID="{15100110-B534-44EC-8FDC-7D01CC18BD1C}" presName="sibTrans" presStyleCnt="0"/>
      <dgm:spPr/>
    </dgm:pt>
    <dgm:pt modelId="{2AB8B9F0-AA59-45A8-BC50-D0A03E1EE3E3}" type="pres">
      <dgm:prSet presAssocID="{C19CAD61-489F-42BB-85A5-0584CEC43AB8}" presName="node" presStyleLbl="node1" presStyleIdx="5" presStyleCnt="7">
        <dgm:presLayoutVars>
          <dgm:bulletEnabled val="1"/>
        </dgm:presLayoutVars>
      </dgm:prSet>
      <dgm:spPr/>
    </dgm:pt>
    <dgm:pt modelId="{E62D35C3-9296-4780-832E-67EB4796B051}" type="pres">
      <dgm:prSet presAssocID="{B88EC6E3-FDDE-4920-8DB0-353B87F91990}" presName="sibTrans" presStyleCnt="0"/>
      <dgm:spPr/>
    </dgm:pt>
    <dgm:pt modelId="{415D77CA-5345-4827-84A3-BE25EF09DF90}" type="pres">
      <dgm:prSet presAssocID="{15167FFD-46FB-40E3-87F7-E958A9A59C7D}" presName="node" presStyleLbl="node1" presStyleIdx="6" presStyleCnt="7">
        <dgm:presLayoutVars>
          <dgm:bulletEnabled val="1"/>
        </dgm:presLayoutVars>
      </dgm:prSet>
      <dgm:spPr/>
    </dgm:pt>
  </dgm:ptLst>
  <dgm:cxnLst>
    <dgm:cxn modelId="{CC0CB008-088B-4A3C-86A3-09697FF7E5BD}" srcId="{1F1D38A5-4F4D-4239-8B94-87A83FF1F501}" destId="{F6CECBCA-C22B-48F2-B508-F76D8E5EF7A5}" srcOrd="2" destOrd="0" parTransId="{735A0340-9EE1-45C2-A2A6-193EE55B3AC1}" sibTransId="{3D208F16-F008-4B47-835C-A953F9C69E74}"/>
    <dgm:cxn modelId="{89E2EC20-07A0-44EC-87E8-63F9192BEDA9}" srcId="{1F1D38A5-4F4D-4239-8B94-87A83FF1F501}" destId="{B1555104-55D0-4E49-AE18-A600E0770FB4}" srcOrd="3" destOrd="0" parTransId="{12505629-0511-4C1C-A0FD-18A2406D10C7}" sibTransId="{A625915D-A137-4742-99CE-F9D3FCF2BAA7}"/>
    <dgm:cxn modelId="{3A4C702B-1771-46CC-8022-FA389739FAA4}" type="presOf" srcId="{A7DD1713-ADEF-4BFA-89AC-5109B85FCDE0}" destId="{E98516A5-F8E2-4CCB-B40F-7FAD90BE04F6}" srcOrd="0" destOrd="0" presId="urn:microsoft.com/office/officeart/2005/8/layout/default"/>
    <dgm:cxn modelId="{C8C3183F-6CCB-4DA1-A3EA-F1A3736E1179}" srcId="{1F1D38A5-4F4D-4239-8B94-87A83FF1F501}" destId="{A7DD1713-ADEF-4BFA-89AC-5109B85FCDE0}" srcOrd="0" destOrd="0" parTransId="{484E2F67-06DB-4CA6-99E9-9F0C5BB9B8BB}" sibTransId="{DB83601D-296F-42FB-BE66-3DE891E40921}"/>
    <dgm:cxn modelId="{F1378349-6C01-43A4-B9EE-CC8910E0F90E}" srcId="{1F1D38A5-4F4D-4239-8B94-87A83FF1F501}" destId="{FB56E52F-59C3-42AB-8FC7-14F653D18B2B}" srcOrd="1" destOrd="0" parTransId="{69D8030A-DA12-47FA-851D-4ED9630CA350}" sibTransId="{4473FE64-07A4-4372-96F8-559CFE697EE0}"/>
    <dgm:cxn modelId="{F1C15B4B-125B-40EB-B9E2-FE1C45D127BB}" srcId="{1F1D38A5-4F4D-4239-8B94-87A83FF1F501}" destId="{5C348B6E-AD8F-4E6C-A1B2-7DC2EE591286}" srcOrd="4" destOrd="0" parTransId="{5A440D17-E747-45AD-9430-F1419CC2D6EB}" sibTransId="{15100110-B534-44EC-8FDC-7D01CC18BD1C}"/>
    <dgm:cxn modelId="{8F94756B-D69E-4BFF-94ED-801519983215}" type="presOf" srcId="{B1555104-55D0-4E49-AE18-A600E0770FB4}" destId="{AF1140EC-AF97-4250-A5C6-868E230EE08F}" srcOrd="0" destOrd="0" presId="urn:microsoft.com/office/officeart/2005/8/layout/default"/>
    <dgm:cxn modelId="{0689B272-F654-43FA-81E3-1A0955A0D1AE}" type="presOf" srcId="{C19CAD61-489F-42BB-85A5-0584CEC43AB8}" destId="{2AB8B9F0-AA59-45A8-BC50-D0A03E1EE3E3}" srcOrd="0" destOrd="0" presId="urn:microsoft.com/office/officeart/2005/8/layout/default"/>
    <dgm:cxn modelId="{F01D6659-0D35-420A-AB3E-BDDBD4E271CB}" type="presOf" srcId="{5C348B6E-AD8F-4E6C-A1B2-7DC2EE591286}" destId="{BFCA3279-2EF7-4C6C-AB14-168921C5030A}" srcOrd="0" destOrd="0" presId="urn:microsoft.com/office/officeart/2005/8/layout/default"/>
    <dgm:cxn modelId="{217BF485-8BC6-4906-868C-FB3454F082A6}" srcId="{1F1D38A5-4F4D-4239-8B94-87A83FF1F501}" destId="{C19CAD61-489F-42BB-85A5-0584CEC43AB8}" srcOrd="5" destOrd="0" parTransId="{31CAA4D5-7E82-4895-858C-C54481CB238C}" sibTransId="{B88EC6E3-FDDE-4920-8DB0-353B87F91990}"/>
    <dgm:cxn modelId="{C258F3A1-28DF-43E7-BB69-ACBCDB83F036}" type="presOf" srcId="{FB56E52F-59C3-42AB-8FC7-14F653D18B2B}" destId="{D55AEFC2-7A80-45AB-B8A4-D191E7B728A7}" srcOrd="0" destOrd="0" presId="urn:microsoft.com/office/officeart/2005/8/layout/default"/>
    <dgm:cxn modelId="{9D424CB9-20F8-4B12-AD03-94C98B084EB0}" type="presOf" srcId="{15167FFD-46FB-40E3-87F7-E958A9A59C7D}" destId="{415D77CA-5345-4827-84A3-BE25EF09DF90}" srcOrd="0" destOrd="0" presId="urn:microsoft.com/office/officeart/2005/8/layout/default"/>
    <dgm:cxn modelId="{978813CE-4D0D-4F05-BFFC-187CC4F7709F}" type="presOf" srcId="{F6CECBCA-C22B-48F2-B508-F76D8E5EF7A5}" destId="{2128E9BA-6081-4AC7-947B-076A078DC2EF}" srcOrd="0" destOrd="0" presId="urn:microsoft.com/office/officeart/2005/8/layout/default"/>
    <dgm:cxn modelId="{E1D56AE5-925F-4A95-A30C-1638200D717E}" srcId="{1F1D38A5-4F4D-4239-8B94-87A83FF1F501}" destId="{15167FFD-46FB-40E3-87F7-E958A9A59C7D}" srcOrd="6" destOrd="0" parTransId="{3441BC1F-1473-43A4-A6DC-B7E2C056974C}" sibTransId="{655BCF45-4F36-4B10-B11F-EB04E023A943}"/>
    <dgm:cxn modelId="{C0E795EF-1593-4039-BBD1-00A8CD786C2C}" type="presOf" srcId="{1F1D38A5-4F4D-4239-8B94-87A83FF1F501}" destId="{9C9CD3AB-F044-4F26-8DC4-4A1CC3922E38}" srcOrd="0" destOrd="0" presId="urn:microsoft.com/office/officeart/2005/8/layout/default"/>
    <dgm:cxn modelId="{65F56FAB-8B50-44A0-B20F-6FEF8E8FAC72}" type="presParOf" srcId="{9C9CD3AB-F044-4F26-8DC4-4A1CC3922E38}" destId="{E98516A5-F8E2-4CCB-B40F-7FAD90BE04F6}" srcOrd="0" destOrd="0" presId="urn:microsoft.com/office/officeart/2005/8/layout/default"/>
    <dgm:cxn modelId="{0CB16737-4DF4-497D-85BC-3280B8EB9D3C}" type="presParOf" srcId="{9C9CD3AB-F044-4F26-8DC4-4A1CC3922E38}" destId="{B01A39B9-6974-4266-B103-3C9550E5CEB9}" srcOrd="1" destOrd="0" presId="urn:microsoft.com/office/officeart/2005/8/layout/default"/>
    <dgm:cxn modelId="{5F394F69-9E2B-48F6-B0FC-78AAB46C7188}" type="presParOf" srcId="{9C9CD3AB-F044-4F26-8DC4-4A1CC3922E38}" destId="{D55AEFC2-7A80-45AB-B8A4-D191E7B728A7}" srcOrd="2" destOrd="0" presId="urn:microsoft.com/office/officeart/2005/8/layout/default"/>
    <dgm:cxn modelId="{015A1207-74B2-4C9C-8671-647D5FB3E984}" type="presParOf" srcId="{9C9CD3AB-F044-4F26-8DC4-4A1CC3922E38}" destId="{551067E9-7AE1-4AEC-9AA3-346938619043}" srcOrd="3" destOrd="0" presId="urn:microsoft.com/office/officeart/2005/8/layout/default"/>
    <dgm:cxn modelId="{67BF855E-80CA-4AFA-9845-CD0EC30CAF19}" type="presParOf" srcId="{9C9CD3AB-F044-4F26-8DC4-4A1CC3922E38}" destId="{2128E9BA-6081-4AC7-947B-076A078DC2EF}" srcOrd="4" destOrd="0" presId="urn:microsoft.com/office/officeart/2005/8/layout/default"/>
    <dgm:cxn modelId="{1A293482-E01F-4A74-A20C-421A127B7485}" type="presParOf" srcId="{9C9CD3AB-F044-4F26-8DC4-4A1CC3922E38}" destId="{59F57B97-F338-4A0F-A278-3DCE22D625C7}" srcOrd="5" destOrd="0" presId="urn:microsoft.com/office/officeart/2005/8/layout/default"/>
    <dgm:cxn modelId="{6394507A-AF2A-4F9E-B9CB-AF8C72CD68FA}" type="presParOf" srcId="{9C9CD3AB-F044-4F26-8DC4-4A1CC3922E38}" destId="{AF1140EC-AF97-4250-A5C6-868E230EE08F}" srcOrd="6" destOrd="0" presId="urn:microsoft.com/office/officeart/2005/8/layout/default"/>
    <dgm:cxn modelId="{D4C56237-408E-4B8A-8AE3-3E8B0069E528}" type="presParOf" srcId="{9C9CD3AB-F044-4F26-8DC4-4A1CC3922E38}" destId="{F7E96250-447E-46B5-B534-8C169CA91680}" srcOrd="7" destOrd="0" presId="urn:microsoft.com/office/officeart/2005/8/layout/default"/>
    <dgm:cxn modelId="{3810EAE6-A7F6-44DE-BF97-5D809D5F1E2D}" type="presParOf" srcId="{9C9CD3AB-F044-4F26-8DC4-4A1CC3922E38}" destId="{BFCA3279-2EF7-4C6C-AB14-168921C5030A}" srcOrd="8" destOrd="0" presId="urn:microsoft.com/office/officeart/2005/8/layout/default"/>
    <dgm:cxn modelId="{52473BCE-8AD9-48F4-A111-C214FF186C81}" type="presParOf" srcId="{9C9CD3AB-F044-4F26-8DC4-4A1CC3922E38}" destId="{25B42A55-EE1D-47F4-863F-ADE749DB1442}" srcOrd="9" destOrd="0" presId="urn:microsoft.com/office/officeart/2005/8/layout/default"/>
    <dgm:cxn modelId="{9601F00B-30AC-404A-99FD-118E4ED413D2}" type="presParOf" srcId="{9C9CD3AB-F044-4F26-8DC4-4A1CC3922E38}" destId="{2AB8B9F0-AA59-45A8-BC50-D0A03E1EE3E3}" srcOrd="10" destOrd="0" presId="urn:microsoft.com/office/officeart/2005/8/layout/default"/>
    <dgm:cxn modelId="{36395A19-01F1-41E7-9540-1AABD5936318}" type="presParOf" srcId="{9C9CD3AB-F044-4F26-8DC4-4A1CC3922E38}" destId="{E62D35C3-9296-4780-832E-67EB4796B051}" srcOrd="11" destOrd="0" presId="urn:microsoft.com/office/officeart/2005/8/layout/default"/>
    <dgm:cxn modelId="{9940A1A3-125A-42F3-BD39-A0FF08DC8065}" type="presParOf" srcId="{9C9CD3AB-F044-4F26-8DC4-4A1CC3922E38}" destId="{415D77CA-5345-4827-84A3-BE25EF09DF9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0BA48-7230-4C9C-BE4C-C75059B70B0C}">
      <dsp:nvSpPr>
        <dsp:cNvPr id="0" name=""/>
        <dsp:cNvSpPr/>
      </dsp:nvSpPr>
      <dsp:spPr>
        <a:xfrm>
          <a:off x="538" y="1378878"/>
          <a:ext cx="2098956" cy="1259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Candidate: Mohammad Amirun Haziq</a:t>
          </a:r>
        </a:p>
      </dsp:txBody>
      <dsp:txXfrm>
        <a:off x="538" y="1378878"/>
        <a:ext cx="2098956" cy="1259373"/>
      </dsp:txXfrm>
    </dsp:sp>
    <dsp:sp modelId="{E268FE33-0BCE-4C7D-95CE-DB906DDABE97}">
      <dsp:nvSpPr>
        <dsp:cNvPr id="0" name=""/>
        <dsp:cNvSpPr/>
      </dsp:nvSpPr>
      <dsp:spPr>
        <a:xfrm>
          <a:off x="2309389" y="1378878"/>
          <a:ext cx="2098956" cy="12593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Role: Technical Operations Executive at StashAway</a:t>
          </a:r>
        </a:p>
      </dsp:txBody>
      <dsp:txXfrm>
        <a:off x="2309389" y="1378878"/>
        <a:ext cx="2098956" cy="1259373"/>
      </dsp:txXfrm>
    </dsp:sp>
    <dsp:sp modelId="{AE038F9B-A090-4092-838E-0E6481027B26}">
      <dsp:nvSpPr>
        <dsp:cNvPr id="0" name=""/>
        <dsp:cNvSpPr/>
      </dsp:nvSpPr>
      <dsp:spPr>
        <a:xfrm>
          <a:off x="538" y="2848147"/>
          <a:ext cx="2098956" cy="12593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Objective: Prepare for interview with strategic insights, role alignment, and FAQs</a:t>
          </a:r>
        </a:p>
      </dsp:txBody>
      <dsp:txXfrm>
        <a:off x="538" y="2848147"/>
        <a:ext cx="2098956" cy="1259373"/>
      </dsp:txXfrm>
    </dsp:sp>
    <dsp:sp modelId="{728A6D10-0E46-4E46-B861-405B369D1280}">
      <dsp:nvSpPr>
        <dsp:cNvPr id="0" name=""/>
        <dsp:cNvSpPr/>
      </dsp:nvSpPr>
      <dsp:spPr>
        <a:xfrm>
          <a:off x="2309389" y="2848147"/>
          <a:ext cx="2098956" cy="12593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Includes: Industry analysis, company overview, competitive benchmarking, and tailored interview prep</a:t>
          </a:r>
        </a:p>
      </dsp:txBody>
      <dsp:txXfrm>
        <a:off x="2309389" y="2848147"/>
        <a:ext cx="2098956" cy="1259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C5622-9C64-46FA-A5B1-DD66995BF53D}">
      <dsp:nvSpPr>
        <dsp:cNvPr id="0" name=""/>
        <dsp:cNvSpPr/>
      </dsp:nvSpPr>
      <dsp:spPr>
        <a:xfrm>
          <a:off x="2309744" y="491469"/>
          <a:ext cx="900648" cy="9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>
              <a:solidFill>
                <a:schemeClr val="bg1"/>
              </a:solidFill>
            </a:rPr>
            <a:t>Global robo-advisory market &gt; $2.5B by 2025</a:t>
          </a:r>
          <a:endParaRPr lang="en-US" sz="1000" kern="1200">
            <a:solidFill>
              <a:schemeClr val="bg1"/>
            </a:solidFill>
          </a:endParaRPr>
        </a:p>
      </dsp:txBody>
      <dsp:txXfrm>
        <a:off x="2309744" y="491469"/>
        <a:ext cx="900648" cy="900648"/>
      </dsp:txXfrm>
    </dsp:sp>
    <dsp:sp modelId="{A3FB39AE-BFBD-4681-B830-254FEA8C0245}">
      <dsp:nvSpPr>
        <dsp:cNvPr id="0" name=""/>
        <dsp:cNvSpPr/>
      </dsp:nvSpPr>
      <dsp:spPr>
        <a:xfrm>
          <a:off x="187985" y="465039"/>
          <a:ext cx="3380704" cy="3380704"/>
        </a:xfrm>
        <a:prstGeom prst="circularArrow">
          <a:avLst>
            <a:gd name="adj1" fmla="val 5195"/>
            <a:gd name="adj2" fmla="val 335535"/>
            <a:gd name="adj3" fmla="val 21294783"/>
            <a:gd name="adj4" fmla="val 19764888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B9833-DE7D-46E6-80F7-A8F2415256C3}">
      <dsp:nvSpPr>
        <dsp:cNvPr id="0" name=""/>
        <dsp:cNvSpPr/>
      </dsp:nvSpPr>
      <dsp:spPr>
        <a:xfrm>
          <a:off x="2854684" y="2168621"/>
          <a:ext cx="900648" cy="9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>
              <a:solidFill>
                <a:schemeClr val="bg1"/>
              </a:solidFill>
            </a:rPr>
            <a:t>Southeast Asia growing at &gt;20% CAGR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2854684" y="2168621"/>
        <a:ext cx="900648" cy="900648"/>
      </dsp:txXfrm>
    </dsp:sp>
    <dsp:sp modelId="{A883F5F3-FFC2-4D03-8BF8-4D9A91943CE2}">
      <dsp:nvSpPr>
        <dsp:cNvPr id="0" name=""/>
        <dsp:cNvSpPr/>
      </dsp:nvSpPr>
      <dsp:spPr>
        <a:xfrm>
          <a:off x="187985" y="465039"/>
          <a:ext cx="3380704" cy="3380704"/>
        </a:xfrm>
        <a:prstGeom prst="circularArrow">
          <a:avLst>
            <a:gd name="adj1" fmla="val 5195"/>
            <a:gd name="adj2" fmla="val 335535"/>
            <a:gd name="adj3" fmla="val 4016296"/>
            <a:gd name="adj4" fmla="val 225196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1C161-E7EA-4515-A657-790620E21978}">
      <dsp:nvSpPr>
        <dsp:cNvPr id="0" name=""/>
        <dsp:cNvSpPr/>
      </dsp:nvSpPr>
      <dsp:spPr>
        <a:xfrm>
          <a:off x="1428013" y="3205158"/>
          <a:ext cx="900648" cy="9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>
              <a:solidFill>
                <a:schemeClr val="bg1"/>
              </a:solidFill>
            </a:rPr>
            <a:t>Customer segments: Mass affluent, HNWIs, millennials, Gen Z</a:t>
          </a:r>
          <a:endParaRPr lang="en-US" sz="1000" kern="1200">
            <a:solidFill>
              <a:schemeClr val="bg1"/>
            </a:solidFill>
          </a:endParaRPr>
        </a:p>
      </dsp:txBody>
      <dsp:txXfrm>
        <a:off x="1428013" y="3205158"/>
        <a:ext cx="900648" cy="900648"/>
      </dsp:txXfrm>
    </dsp:sp>
    <dsp:sp modelId="{A67FAA0A-D919-47C1-AA03-BFEDD95987CD}">
      <dsp:nvSpPr>
        <dsp:cNvPr id="0" name=""/>
        <dsp:cNvSpPr/>
      </dsp:nvSpPr>
      <dsp:spPr>
        <a:xfrm>
          <a:off x="187985" y="465039"/>
          <a:ext cx="3380704" cy="3380704"/>
        </a:xfrm>
        <a:prstGeom prst="circularArrow">
          <a:avLst>
            <a:gd name="adj1" fmla="val 5195"/>
            <a:gd name="adj2" fmla="val 335535"/>
            <a:gd name="adj3" fmla="val 8212500"/>
            <a:gd name="adj4" fmla="val 6448170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FF97B-0723-4DDB-A078-D7DE5FBC8775}">
      <dsp:nvSpPr>
        <dsp:cNvPr id="0" name=""/>
        <dsp:cNvSpPr/>
      </dsp:nvSpPr>
      <dsp:spPr>
        <a:xfrm>
          <a:off x="1342" y="2168621"/>
          <a:ext cx="900648" cy="9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>
              <a:solidFill>
                <a:schemeClr val="bg1"/>
              </a:solidFill>
            </a:rPr>
            <a:t>Regulatory support from MAS, SC Malaysia, Bank Negara</a:t>
          </a:r>
          <a:endParaRPr lang="en-US" sz="1000" kern="1200">
            <a:solidFill>
              <a:schemeClr val="bg1"/>
            </a:solidFill>
          </a:endParaRPr>
        </a:p>
      </dsp:txBody>
      <dsp:txXfrm>
        <a:off x="1342" y="2168621"/>
        <a:ext cx="900648" cy="900648"/>
      </dsp:txXfrm>
    </dsp:sp>
    <dsp:sp modelId="{623FB1F1-D191-4602-B38B-3150D62DFB75}">
      <dsp:nvSpPr>
        <dsp:cNvPr id="0" name=""/>
        <dsp:cNvSpPr/>
      </dsp:nvSpPr>
      <dsp:spPr>
        <a:xfrm>
          <a:off x="187985" y="465039"/>
          <a:ext cx="3380704" cy="3380704"/>
        </a:xfrm>
        <a:prstGeom prst="circularArrow">
          <a:avLst>
            <a:gd name="adj1" fmla="val 5195"/>
            <a:gd name="adj2" fmla="val 335535"/>
            <a:gd name="adj3" fmla="val 12299577"/>
            <a:gd name="adj4" fmla="val 10769682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9469E-A66C-42E8-A071-7E3E6F81B100}">
      <dsp:nvSpPr>
        <dsp:cNvPr id="0" name=""/>
        <dsp:cNvSpPr/>
      </dsp:nvSpPr>
      <dsp:spPr>
        <a:xfrm>
          <a:off x="546282" y="491469"/>
          <a:ext cx="900648" cy="9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>
              <a:solidFill>
                <a:schemeClr val="bg1"/>
              </a:solidFill>
            </a:rPr>
            <a:t>Tech drivers: AI, hyper-personalization, embedded finance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546282" y="491469"/>
        <a:ext cx="900648" cy="900648"/>
      </dsp:txXfrm>
    </dsp:sp>
    <dsp:sp modelId="{EDD55301-9C36-407B-930E-603BE94A701B}">
      <dsp:nvSpPr>
        <dsp:cNvPr id="0" name=""/>
        <dsp:cNvSpPr/>
      </dsp:nvSpPr>
      <dsp:spPr>
        <a:xfrm>
          <a:off x="187985" y="465039"/>
          <a:ext cx="3380704" cy="3380704"/>
        </a:xfrm>
        <a:prstGeom prst="circularArrow">
          <a:avLst>
            <a:gd name="adj1" fmla="val 5195"/>
            <a:gd name="adj2" fmla="val 335535"/>
            <a:gd name="adj3" fmla="val 16867279"/>
            <a:gd name="adj4" fmla="val 1519718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E8408-6F41-4994-B821-024CD2F37BDD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0A04B-7B07-45B0-8149-D281F6DBE7F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22C22-0E6A-4023-A4E8-44EA92F40CD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Trends: ESG investing, fractional portfolios, embedded finance</a:t>
          </a:r>
        </a:p>
      </dsp:txBody>
      <dsp:txXfrm>
        <a:off x="46529" y="2703902"/>
        <a:ext cx="2418750" cy="720000"/>
      </dsp:txXfrm>
    </dsp:sp>
    <dsp:sp modelId="{E280EB8F-A174-4845-AA77-7E53F128369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40FCC-49CB-4E74-959C-103A2AA26624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43615-EBFF-4E37-AF09-9DF22DFEA3C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Threats: Data privacy, AI regulation, rising CAC</a:t>
          </a:r>
        </a:p>
      </dsp:txBody>
      <dsp:txXfrm>
        <a:off x="2888560" y="2703902"/>
        <a:ext cx="2418750" cy="720000"/>
      </dsp:txXfrm>
    </dsp:sp>
    <dsp:sp modelId="{3F44EBD8-3263-433D-B1DA-446BADA3AF36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5BFBA-3846-41DB-B49F-DDB7DFD328C5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B6A5F-97B9-4C14-AAB5-55FBD65AD013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Disruptions: Generative AI, blockchain asset tokenization, behavioral nudges</a:t>
          </a:r>
        </a:p>
      </dsp:txBody>
      <dsp:txXfrm>
        <a:off x="5730591" y="27039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F23C2-8B60-4C99-982E-FF592F4795D5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StashAway: Smart, accessible investing; strong AI engine</a:t>
          </a:r>
        </a:p>
      </dsp:txBody>
      <dsp:txXfrm>
        <a:off x="0" y="431616"/>
        <a:ext cx="2561209" cy="1536725"/>
      </dsp:txXfrm>
    </dsp:sp>
    <dsp:sp modelId="{4671E8EA-A8CE-4E67-8081-3E29E937C26B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Endowus: Trusted, CPF-integrated; hybrid advisory</a:t>
          </a:r>
        </a:p>
      </dsp:txBody>
      <dsp:txXfrm>
        <a:off x="2817330" y="431616"/>
        <a:ext cx="2561209" cy="1536725"/>
      </dsp:txXfrm>
    </dsp:sp>
    <dsp:sp modelId="{D64D860F-86F8-46F9-B3F7-25A85820ED63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Syfe: Modern, diversified; REITs and thematic portfolios</a:t>
          </a:r>
        </a:p>
      </dsp:txBody>
      <dsp:txXfrm>
        <a:off x="5634661" y="431616"/>
        <a:ext cx="2561209" cy="1536725"/>
      </dsp:txXfrm>
    </dsp:sp>
    <dsp:sp modelId="{4328AA67-CCD0-4D9D-934F-8333C857B556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Kristal.AI: Premium, global; concierge service</a:t>
          </a:r>
        </a:p>
      </dsp:txBody>
      <dsp:txXfrm>
        <a:off x="1408665" y="2224462"/>
        <a:ext cx="2561209" cy="1536725"/>
      </dsp:txXfrm>
    </dsp:sp>
    <dsp:sp modelId="{EE7D394A-87FF-4127-8C17-D33EA6DEA255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Betterment: Efficient, US-focused; tax optimization</a:t>
          </a:r>
        </a:p>
      </dsp:txBody>
      <dsp:txXfrm>
        <a:off x="4225995" y="22244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29267-ECC7-4CC3-B7E0-EAAE346524EE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Strengths: Scalable tech, low cost, data-driven</a:t>
          </a:r>
        </a:p>
      </dsp:txBody>
      <dsp:txXfrm>
        <a:off x="715337" y="2413"/>
        <a:ext cx="3221521" cy="1932912"/>
      </dsp:txXfrm>
    </dsp:sp>
    <dsp:sp modelId="{C4FA2DDA-492F-4FD4-ADDC-53D14EA6973E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Weaknesses: Trust gap vs. traditional advisors</a:t>
          </a:r>
        </a:p>
      </dsp:txBody>
      <dsp:txXfrm>
        <a:off x="4259011" y="2413"/>
        <a:ext cx="3221521" cy="1932912"/>
      </dsp:txXfrm>
    </dsp:sp>
    <dsp:sp modelId="{313149A0-2D44-498A-9705-D7F02594FCA8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Opportunities: Regional expansion, AI personalization</a:t>
          </a:r>
        </a:p>
      </dsp:txBody>
      <dsp:txXfrm>
        <a:off x="715337" y="2257478"/>
        <a:ext cx="3221521" cy="1932912"/>
      </dsp:txXfrm>
    </dsp:sp>
    <dsp:sp modelId="{38ADF994-2EBB-45D8-A18F-9C2409BE81D8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Threats: Regulatory shifts, market volatility</a:t>
          </a:r>
        </a:p>
      </dsp:txBody>
      <dsp:txXfrm>
        <a:off x="4259011" y="2257478"/>
        <a:ext cx="3221521" cy="19329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7E359-5112-40E1-B018-CB4527F1E256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New Entrants: Medium – low barriers but trust matters</a:t>
          </a:r>
        </a:p>
      </dsp:txBody>
      <dsp:txXfrm>
        <a:off x="0" y="431616"/>
        <a:ext cx="2561209" cy="1536725"/>
      </dsp:txXfrm>
    </dsp:sp>
    <dsp:sp modelId="{B46D1C6B-F378-4AFD-A13A-4F4394D0F50B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Buyer Power: High – price-sensitive, low switching costs</a:t>
          </a:r>
        </a:p>
      </dsp:txBody>
      <dsp:txXfrm>
        <a:off x="2817330" y="431616"/>
        <a:ext cx="2561209" cy="1536725"/>
      </dsp:txXfrm>
    </dsp:sp>
    <dsp:sp modelId="{04DC48B0-39C5-44AF-B2DF-B0757AFDCE8B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Supplier Power: Low – APIs and data commoditized</a:t>
          </a:r>
        </a:p>
      </dsp:txBody>
      <dsp:txXfrm>
        <a:off x="5634661" y="431616"/>
        <a:ext cx="2561209" cy="1536725"/>
      </dsp:txXfrm>
    </dsp:sp>
    <dsp:sp modelId="{3AB3EEA6-2CE5-4B8B-9BDE-84705CB15557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Substitutes: Medium – DIY investing, traditional advisors</a:t>
          </a:r>
        </a:p>
      </dsp:txBody>
      <dsp:txXfrm>
        <a:off x="1408665" y="2224462"/>
        <a:ext cx="2561209" cy="1536725"/>
      </dsp:txXfrm>
    </dsp:sp>
    <dsp:sp modelId="{547D71B6-4A81-4374-B107-C9D8701134BB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Rivalry: High – many players, low differentiation</a:t>
          </a:r>
        </a:p>
      </dsp:txBody>
      <dsp:txXfrm>
        <a:off x="4225995" y="2224462"/>
        <a:ext cx="2561209" cy="15367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516A5-F8E2-4CCB-B40F-7FAD90BE04F6}">
      <dsp:nvSpPr>
        <dsp:cNvPr id="0" name=""/>
        <dsp:cNvSpPr/>
      </dsp:nvSpPr>
      <dsp:spPr>
        <a:xfrm>
          <a:off x="585274" y="1616"/>
          <a:ext cx="1952122" cy="11712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SQL scripting: ✅ Strong match</a:t>
          </a:r>
        </a:p>
      </dsp:txBody>
      <dsp:txXfrm>
        <a:off x="585274" y="1616"/>
        <a:ext cx="1952122" cy="1171273"/>
      </dsp:txXfrm>
    </dsp:sp>
    <dsp:sp modelId="{D55AEFC2-7A80-45AB-B8A4-D191E7B728A7}">
      <dsp:nvSpPr>
        <dsp:cNvPr id="0" name=""/>
        <dsp:cNvSpPr/>
      </dsp:nvSpPr>
      <dsp:spPr>
        <a:xfrm>
          <a:off x="2732609" y="1616"/>
          <a:ext cx="1952122" cy="1171273"/>
        </a:xfrm>
        <a:prstGeom prst="rect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Dashboard development: ✅ Strong match</a:t>
          </a:r>
        </a:p>
      </dsp:txBody>
      <dsp:txXfrm>
        <a:off x="2732609" y="1616"/>
        <a:ext cx="1952122" cy="1171273"/>
      </dsp:txXfrm>
    </dsp:sp>
    <dsp:sp modelId="{2128E9BA-6081-4AC7-947B-076A078DC2EF}">
      <dsp:nvSpPr>
        <dsp:cNvPr id="0" name=""/>
        <dsp:cNvSpPr/>
      </dsp:nvSpPr>
      <dsp:spPr>
        <a:xfrm>
          <a:off x="4879944" y="1616"/>
          <a:ext cx="1952122" cy="1171273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ETL &amp; data pipelines: ✅ Strong match</a:t>
          </a:r>
        </a:p>
      </dsp:txBody>
      <dsp:txXfrm>
        <a:off x="4879944" y="1616"/>
        <a:ext cx="1952122" cy="1171273"/>
      </dsp:txXfrm>
    </dsp:sp>
    <dsp:sp modelId="{AF1140EC-AF97-4250-A5C6-868E230EE08F}">
      <dsp:nvSpPr>
        <dsp:cNvPr id="0" name=""/>
        <dsp:cNvSpPr/>
      </dsp:nvSpPr>
      <dsp:spPr>
        <a:xfrm>
          <a:off x="585274" y="1368102"/>
          <a:ext cx="1952122" cy="1171273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Fintech experience: ⚠️ Partial match</a:t>
          </a:r>
        </a:p>
      </dsp:txBody>
      <dsp:txXfrm>
        <a:off x="585274" y="1368102"/>
        <a:ext cx="1952122" cy="1171273"/>
      </dsp:txXfrm>
    </dsp:sp>
    <dsp:sp modelId="{BFCA3279-2EF7-4C6C-AB14-168921C5030A}">
      <dsp:nvSpPr>
        <dsp:cNvPr id="0" name=""/>
        <dsp:cNvSpPr/>
      </dsp:nvSpPr>
      <dsp:spPr>
        <a:xfrm>
          <a:off x="2732609" y="1368102"/>
          <a:ext cx="1952122" cy="1171273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Excel Macros / GSheet Scripts: ⚠️ Learning in progress</a:t>
          </a:r>
        </a:p>
      </dsp:txBody>
      <dsp:txXfrm>
        <a:off x="2732609" y="1368102"/>
        <a:ext cx="1952122" cy="1171273"/>
      </dsp:txXfrm>
    </dsp:sp>
    <dsp:sp modelId="{2AB8B9F0-AA59-45A8-BC50-D0A03E1EE3E3}">
      <dsp:nvSpPr>
        <dsp:cNvPr id="0" name=""/>
        <dsp:cNvSpPr/>
      </dsp:nvSpPr>
      <dsp:spPr>
        <a:xfrm>
          <a:off x="4879944" y="1368102"/>
          <a:ext cx="1952122" cy="1171273"/>
        </a:xfrm>
        <a:prstGeom prst="rect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Ops domain knowledge: ❌ Gap – no direct banking ops</a:t>
          </a:r>
        </a:p>
      </dsp:txBody>
      <dsp:txXfrm>
        <a:off x="4879944" y="1368102"/>
        <a:ext cx="1952122" cy="1171273"/>
      </dsp:txXfrm>
    </dsp:sp>
    <dsp:sp modelId="{415D77CA-5345-4827-84A3-BE25EF09DF90}">
      <dsp:nvSpPr>
        <dsp:cNvPr id="0" name=""/>
        <dsp:cNvSpPr/>
      </dsp:nvSpPr>
      <dsp:spPr>
        <a:xfrm>
          <a:off x="2732609" y="2734588"/>
          <a:ext cx="1952122" cy="1171273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Problem-solving &amp; adaptability: ✅ Strong match</a:t>
          </a:r>
        </a:p>
      </dsp:txBody>
      <dsp:txXfrm>
        <a:off x="2732609" y="2734588"/>
        <a:ext cx="1952122" cy="1171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Video 6" descr="People Discussing">
            <a:extLst>
              <a:ext uri="{FF2B5EF4-FFF2-40B4-BE49-F238E27FC236}">
                <a16:creationId xmlns:a16="http://schemas.microsoft.com/office/drawing/2014/main" id="{8A086A3A-4887-2E5B-943B-634484A42A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3781" r="21004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1806DB-45CB-1CAF-6744-8C59CBC6E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n-US" sz="4500">
                <a:solidFill>
                  <a:srgbClr val="FFFFFF"/>
                </a:solidFill>
              </a:rPr>
              <a:t>StashAway Interview Preparation</a:t>
            </a:r>
            <a:endParaRPr lang="en-MY" sz="45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FC67E1-CA42-4FBD-C543-1844500D8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Junior Technical Operation Executive</a:t>
            </a:r>
            <a:endParaRPr lang="en-MY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969" y="1450655"/>
            <a:ext cx="2949022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5400">
                <a:solidFill>
                  <a:schemeClr val="bg1"/>
                </a:solidFill>
              </a:rPr>
              <a:t>Executive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18969" y="1450655"/>
            <a:ext cx="2949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18969" y="5408571"/>
            <a:ext cx="294902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E25B5D-CC6C-889D-0414-E4AC640C9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484680"/>
              </p:ext>
            </p:extLst>
          </p:nvPr>
        </p:nvGraphicFramePr>
        <p:xfrm>
          <a:off x="4296376" y="685800"/>
          <a:ext cx="4408884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MY">
                <a:solidFill>
                  <a:schemeClr val="bg1"/>
                </a:solidFill>
              </a:rPr>
              <a:t>About StashAway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endParaRPr lang="en-US" sz="1700">
              <a:solidFill>
                <a:schemeClr val="bg1"/>
              </a:solidFill>
            </a:endParaRPr>
          </a:p>
          <a:p>
            <a:r>
              <a:rPr lang="en-US" sz="1700">
                <a:solidFill>
                  <a:schemeClr val="bg1"/>
                </a:solidFill>
              </a:rPr>
              <a:t>Digital wealth management platform based in Southeast Asia</a:t>
            </a:r>
          </a:p>
          <a:p>
            <a:r>
              <a:rPr lang="en-US" sz="1700">
                <a:solidFill>
                  <a:schemeClr val="bg1"/>
                </a:solidFill>
              </a:rPr>
              <a:t>Uses ERAA™ framework for macroeconomic portfolio allocation</a:t>
            </a:r>
          </a:p>
          <a:p>
            <a:r>
              <a:rPr lang="en-US" sz="1700">
                <a:solidFill>
                  <a:schemeClr val="bg1"/>
                </a:solidFill>
              </a:rPr>
              <a:t>Offers robo-advisory, cash management, and personalized investing</a:t>
            </a:r>
          </a:p>
          <a:p>
            <a:r>
              <a:rPr lang="en-US" sz="1700">
                <a:solidFill>
                  <a:schemeClr val="bg1"/>
                </a:solidFill>
              </a:rPr>
              <a:t>Regulated by MAS and other regional authorities</a:t>
            </a:r>
          </a:p>
          <a:p>
            <a:r>
              <a:rPr lang="en-US" sz="1700">
                <a:solidFill>
                  <a:schemeClr val="bg1"/>
                </a:solidFill>
              </a:rPr>
              <a:t>Focus on accessibility, transparency, and AI-driven financial planning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5400">
                <a:solidFill>
                  <a:schemeClr val="bg1"/>
                </a:solidFill>
              </a:rPr>
              <a:t>Industry Market Overview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86D0FDB-7622-54AD-3699-5DCC5FE5C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03775"/>
              </p:ext>
            </p:extLst>
          </p:nvPr>
        </p:nvGraphicFramePr>
        <p:xfrm>
          <a:off x="4572000" y="1108061"/>
          <a:ext cx="3756675" cy="4571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Key Trends, Threats &amp; Disruptions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F28346-CDC5-A164-0E0E-E6B651161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962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Competitive Benchmarking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FBF253-90BD-2974-0135-64E883C85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41369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SWOT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48A6D1-D89A-B085-1408-F1C9C05D9D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37601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Porter's Five Forces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4EA73-4F6C-D425-8607-862406079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6929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MY" sz="3500">
                <a:solidFill>
                  <a:schemeClr val="bg1"/>
                </a:solidFill>
              </a:rPr>
              <a:t>Fit-Gap Analysis: Candidate vs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A058E0-BE66-D5D7-6FB6-AA2726FDC1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247334"/>
              </p:ext>
            </p:extLst>
          </p:nvPr>
        </p:nvGraphicFramePr>
        <p:xfrm>
          <a:off x="866668" y="2261336"/>
          <a:ext cx="7417342" cy="3907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MY" sz="3500">
                <a:solidFill>
                  <a:schemeClr val="bg1"/>
                </a:solidFill>
              </a:rPr>
              <a:t>Technical Interview FAQs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endParaRPr lang="en-MY" sz="2100"/>
          </a:p>
          <a:p>
            <a:r>
              <a:rPr lang="en-MY" sz="2100"/>
              <a:t>ETL pipeline example: Talend Big Data Batch + Snowflake</a:t>
            </a:r>
          </a:p>
          <a:p>
            <a:r>
              <a:rPr lang="en-MY" sz="2100"/>
              <a:t>Schema changes: Control tables, metadata updates</a:t>
            </a:r>
          </a:p>
          <a:p>
            <a:r>
              <a:rPr lang="en-MY" sz="2100"/>
              <a:t>Batch vs Streaming: Used both in TM project</a:t>
            </a:r>
          </a:p>
          <a:p>
            <a:r>
              <a:rPr lang="en-MY" sz="2100"/>
              <a:t>Talend optimization: tMap, parallel execution, TAC monitoring</a:t>
            </a:r>
          </a:p>
          <a:p>
            <a:r>
              <a:rPr lang="en-MY" sz="2100"/>
              <a:t>SQL fluency: Hive QL, joins, window functions</a:t>
            </a:r>
          </a:p>
          <a:p>
            <a:r>
              <a:rPr lang="en-MY" sz="2100"/>
              <a:t>Dashboard design: Wireframes, star schema, stakeholder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MY" sz="3500">
                <a:solidFill>
                  <a:schemeClr val="bg1"/>
                </a:solidFill>
              </a:rPr>
              <a:t>Behavioral Interview FAQs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endParaRPr lang="en-MY" sz="2100"/>
          </a:p>
          <a:p>
            <a:r>
              <a:rPr lang="en-MY" sz="2100"/>
              <a:t>Learning agility: Picked up Snowflake in DOE project</a:t>
            </a:r>
          </a:p>
          <a:p>
            <a:r>
              <a:rPr lang="en-MY" sz="2100"/>
              <a:t>Working under pressure: Fixed pipeline before TM demo</a:t>
            </a:r>
          </a:p>
          <a:p>
            <a:r>
              <a:rPr lang="en-MY" sz="2100"/>
              <a:t>Handling ambiguity: Clarified KPIs in AmBank dashboard</a:t>
            </a:r>
          </a:p>
          <a:p>
            <a:r>
              <a:rPr lang="en-MY" sz="2100"/>
              <a:t>Cross-functional alignment: Workflow diagrams in Dagang Net</a:t>
            </a:r>
          </a:p>
          <a:p>
            <a:r>
              <a:rPr lang="en-MY" sz="2100"/>
              <a:t>Explaining tech: Used analogies for finance team in UMobile</a:t>
            </a:r>
          </a:p>
          <a:p>
            <a:r>
              <a:rPr lang="en-MY" sz="2100"/>
              <a:t>Feedback handling: Simplified visuals in First Philec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MY" sz="3500">
                <a:solidFill>
                  <a:schemeClr val="bg1"/>
                </a:solidFill>
              </a:rPr>
              <a:t>Strategic Recommendations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endParaRPr lang="en-US" sz="2100"/>
          </a:p>
          <a:p>
            <a:r>
              <a:rPr lang="en-US" sz="2100"/>
              <a:t>Tailor resume for fintech: Highlight financial data experience</a:t>
            </a:r>
          </a:p>
          <a:p>
            <a:r>
              <a:rPr lang="en-US" sz="2100"/>
              <a:t>Upskill: Learn GSheet scripting, study banking ops</a:t>
            </a:r>
          </a:p>
          <a:p>
            <a:r>
              <a:rPr lang="en-US" sz="2100"/>
              <a:t>Interview prep: Use STAR method, quantify impact</a:t>
            </a:r>
          </a:p>
          <a:p>
            <a:r>
              <a:rPr lang="en-US" sz="2100"/>
              <a:t>Ask questions: Team structure, tech stack, roadmap</a:t>
            </a:r>
          </a:p>
          <a:p>
            <a:r>
              <a:rPr lang="en-US" sz="2100"/>
              <a:t>Follow-up: Send thank-you note with recap of strengths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536</Words>
  <Application>Microsoft Office PowerPoint</Application>
  <PresentationFormat>On-screen Show (4:3)</PresentationFormat>
  <Paragraphs>72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StashAway Interview Preparation</vt:lpstr>
      <vt:lpstr>Executive Summary</vt:lpstr>
      <vt:lpstr>About StashAway</vt:lpstr>
      <vt:lpstr>Industry Market Overview</vt:lpstr>
      <vt:lpstr>Key Trends, Threats &amp; Disruptions</vt:lpstr>
      <vt:lpstr>Competitive Benchmarking</vt:lpstr>
      <vt:lpstr>SWOT Analysis</vt:lpstr>
      <vt:lpstr>Porter's Five Forces</vt:lpstr>
      <vt:lpstr>Fit-Gap Analysis: Candidate vs Role</vt:lpstr>
      <vt:lpstr>Technical Interview FAQs</vt:lpstr>
      <vt:lpstr>Behavioral Interview FAQs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Amirun Fadzli</cp:lastModifiedBy>
  <cp:revision>2</cp:revision>
  <dcterms:created xsi:type="dcterms:W3CDTF">2013-01-27T09:14:16Z</dcterms:created>
  <dcterms:modified xsi:type="dcterms:W3CDTF">2025-07-14T04:09:43Z</dcterms:modified>
  <cp:category/>
</cp:coreProperties>
</file>