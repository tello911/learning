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875761-E683-475B-89DA-C9E0691B429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A896CCF-7C3D-4354-BBF7-80058AF48AC8}">
      <dgm:prSet/>
      <dgm:spPr/>
      <dgm:t>
        <a:bodyPr/>
        <a:lstStyle/>
        <a:p>
          <a:r>
            <a:rPr lang="en-US"/>
            <a:t>Upskill in Azure, Databricks, Python</a:t>
          </a:r>
        </a:p>
      </dgm:t>
    </dgm:pt>
    <dgm:pt modelId="{209E8E9C-AE59-4BAD-91AA-8FDC605AB017}" type="parTrans" cxnId="{963E9008-A123-401C-98D3-62AC80D33243}">
      <dgm:prSet/>
      <dgm:spPr/>
      <dgm:t>
        <a:bodyPr/>
        <a:lstStyle/>
        <a:p>
          <a:endParaRPr lang="en-US"/>
        </a:p>
      </dgm:t>
    </dgm:pt>
    <dgm:pt modelId="{EF741BF6-9C5B-4B94-AAF3-7FC1F517EFC7}" type="sibTrans" cxnId="{963E9008-A123-401C-98D3-62AC80D33243}">
      <dgm:prSet/>
      <dgm:spPr/>
      <dgm:t>
        <a:bodyPr/>
        <a:lstStyle/>
        <a:p>
          <a:endParaRPr lang="en-US"/>
        </a:p>
      </dgm:t>
    </dgm:pt>
    <dgm:pt modelId="{134F8088-0118-4FD4-AB99-A0E09EA63C40}">
      <dgm:prSet/>
      <dgm:spPr/>
      <dgm:t>
        <a:bodyPr/>
        <a:lstStyle/>
        <a:p>
          <a:r>
            <a:rPr lang="en-US"/>
            <a:t>Prepare Power BI demo with DAX, RLS, drill-through</a:t>
          </a:r>
        </a:p>
      </dgm:t>
    </dgm:pt>
    <dgm:pt modelId="{418EAFE6-D233-43BA-B227-8200E51A379C}" type="parTrans" cxnId="{4FE46878-A854-47A3-9DF1-AAD3ADCB21D4}">
      <dgm:prSet/>
      <dgm:spPr/>
      <dgm:t>
        <a:bodyPr/>
        <a:lstStyle/>
        <a:p>
          <a:endParaRPr lang="en-US"/>
        </a:p>
      </dgm:t>
    </dgm:pt>
    <dgm:pt modelId="{A15038DE-4188-464D-8E75-443BD19662B2}" type="sibTrans" cxnId="{4FE46878-A854-47A3-9DF1-AAD3ADCB21D4}">
      <dgm:prSet/>
      <dgm:spPr/>
      <dgm:t>
        <a:bodyPr/>
        <a:lstStyle/>
        <a:p>
          <a:endParaRPr lang="en-US"/>
        </a:p>
      </dgm:t>
    </dgm:pt>
    <dgm:pt modelId="{AD429BF1-3542-4763-A26F-DB129C7D027A}">
      <dgm:prSet/>
      <dgm:spPr/>
      <dgm:t>
        <a:bodyPr/>
        <a:lstStyle/>
        <a:p>
          <a:r>
            <a:rPr lang="en-US"/>
            <a:t>Bring samples of BRDs or FSDs</a:t>
          </a:r>
        </a:p>
      </dgm:t>
    </dgm:pt>
    <dgm:pt modelId="{2D5B37B8-50F2-424B-A20C-CF773AB3CDA9}" type="parTrans" cxnId="{FCE6CF28-2973-430A-B926-AC292C1FAF97}">
      <dgm:prSet/>
      <dgm:spPr/>
      <dgm:t>
        <a:bodyPr/>
        <a:lstStyle/>
        <a:p>
          <a:endParaRPr lang="en-US"/>
        </a:p>
      </dgm:t>
    </dgm:pt>
    <dgm:pt modelId="{5AEB0D49-1716-4B37-AB62-495A263DA554}" type="sibTrans" cxnId="{FCE6CF28-2973-430A-B926-AC292C1FAF97}">
      <dgm:prSet/>
      <dgm:spPr/>
      <dgm:t>
        <a:bodyPr/>
        <a:lstStyle/>
        <a:p>
          <a:endParaRPr lang="en-US"/>
        </a:p>
      </dgm:t>
    </dgm:pt>
    <dgm:pt modelId="{E7622E65-BD14-44D1-93A1-5E608AE562FF}">
      <dgm:prSet/>
      <dgm:spPr/>
      <dgm:t>
        <a:bodyPr/>
        <a:lstStyle/>
        <a:p>
          <a:r>
            <a:rPr lang="en-US"/>
            <a:t>Familiarize with NLP and GenAI use cases</a:t>
          </a:r>
        </a:p>
      </dgm:t>
    </dgm:pt>
    <dgm:pt modelId="{F4EED0DD-507E-42FF-BCFE-33A6CA13FCED}" type="parTrans" cxnId="{3540D8C6-3563-42DF-B84E-CCAE128F475E}">
      <dgm:prSet/>
      <dgm:spPr/>
      <dgm:t>
        <a:bodyPr/>
        <a:lstStyle/>
        <a:p>
          <a:endParaRPr lang="en-US"/>
        </a:p>
      </dgm:t>
    </dgm:pt>
    <dgm:pt modelId="{C07B749D-D3D6-427A-8659-1148D787CB60}" type="sibTrans" cxnId="{3540D8C6-3563-42DF-B84E-CCAE128F475E}">
      <dgm:prSet/>
      <dgm:spPr/>
      <dgm:t>
        <a:bodyPr/>
        <a:lstStyle/>
        <a:p>
          <a:endParaRPr lang="en-US"/>
        </a:p>
      </dgm:t>
    </dgm:pt>
    <dgm:pt modelId="{B329FA58-DB7E-4D2F-85E5-5EFAC65F88C9}">
      <dgm:prSet/>
      <dgm:spPr/>
      <dgm:t>
        <a:bodyPr/>
        <a:lstStyle/>
        <a:p>
          <a:r>
            <a:rPr lang="en-US"/>
            <a:t>Ask about CPR’s data stack and innovation roadmap</a:t>
          </a:r>
        </a:p>
      </dgm:t>
    </dgm:pt>
    <dgm:pt modelId="{1D25687E-FAC3-4BFE-B24D-CCBF307AAFD5}" type="parTrans" cxnId="{CD05303C-AD95-47BE-BDC9-6BAEAEFC792E}">
      <dgm:prSet/>
      <dgm:spPr/>
      <dgm:t>
        <a:bodyPr/>
        <a:lstStyle/>
        <a:p>
          <a:endParaRPr lang="en-US"/>
        </a:p>
      </dgm:t>
    </dgm:pt>
    <dgm:pt modelId="{3C3A4102-FEEE-4783-A2DB-E4A3A3D0F0C0}" type="sibTrans" cxnId="{CD05303C-AD95-47BE-BDC9-6BAEAEFC792E}">
      <dgm:prSet/>
      <dgm:spPr/>
      <dgm:t>
        <a:bodyPr/>
        <a:lstStyle/>
        <a:p>
          <a:endParaRPr lang="en-US"/>
        </a:p>
      </dgm:t>
    </dgm:pt>
    <dgm:pt modelId="{DEE4BE49-CF7E-4BEB-AC21-DF125E8E42B5}" type="pres">
      <dgm:prSet presAssocID="{0F875761-E683-475B-89DA-C9E0691B429F}" presName="root" presStyleCnt="0">
        <dgm:presLayoutVars>
          <dgm:dir/>
          <dgm:resizeHandles val="exact"/>
        </dgm:presLayoutVars>
      </dgm:prSet>
      <dgm:spPr/>
    </dgm:pt>
    <dgm:pt modelId="{B6E17A0F-7505-4ACC-8E85-57A888FA51EA}" type="pres">
      <dgm:prSet presAssocID="{0F875761-E683-475B-89DA-C9E0691B429F}" presName="container" presStyleCnt="0">
        <dgm:presLayoutVars>
          <dgm:dir/>
          <dgm:resizeHandles val="exact"/>
        </dgm:presLayoutVars>
      </dgm:prSet>
      <dgm:spPr/>
    </dgm:pt>
    <dgm:pt modelId="{275A64B0-A32A-4CD2-AEB8-2A1FA3BA96A2}" type="pres">
      <dgm:prSet presAssocID="{EA896CCF-7C3D-4354-BBF7-80058AF48AC8}" presName="compNode" presStyleCnt="0"/>
      <dgm:spPr/>
    </dgm:pt>
    <dgm:pt modelId="{6089F2F8-E2A6-4803-91F1-4FAC3A4BA70C}" type="pres">
      <dgm:prSet presAssocID="{EA896CCF-7C3D-4354-BBF7-80058AF48AC8}" presName="iconBgRect" presStyleLbl="bgShp" presStyleIdx="0" presStyleCnt="5"/>
      <dgm:spPr/>
    </dgm:pt>
    <dgm:pt modelId="{24C58A8B-D7C2-4DE6-AA54-D944D7456628}" type="pres">
      <dgm:prSet presAssocID="{EA896CCF-7C3D-4354-BBF7-80058AF48AC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4356F3F-DE85-4052-93B6-295A99C6D159}" type="pres">
      <dgm:prSet presAssocID="{EA896CCF-7C3D-4354-BBF7-80058AF48AC8}" presName="spaceRect" presStyleCnt="0"/>
      <dgm:spPr/>
    </dgm:pt>
    <dgm:pt modelId="{11321D93-5716-4F07-99D7-655338673C05}" type="pres">
      <dgm:prSet presAssocID="{EA896CCF-7C3D-4354-BBF7-80058AF48AC8}" presName="textRect" presStyleLbl="revTx" presStyleIdx="0" presStyleCnt="5">
        <dgm:presLayoutVars>
          <dgm:chMax val="1"/>
          <dgm:chPref val="1"/>
        </dgm:presLayoutVars>
      </dgm:prSet>
      <dgm:spPr/>
    </dgm:pt>
    <dgm:pt modelId="{40D2C23F-BB01-4BB4-9652-0277720A0FBB}" type="pres">
      <dgm:prSet presAssocID="{EF741BF6-9C5B-4B94-AAF3-7FC1F517EFC7}" presName="sibTrans" presStyleLbl="sibTrans2D1" presStyleIdx="0" presStyleCnt="0"/>
      <dgm:spPr/>
    </dgm:pt>
    <dgm:pt modelId="{CEEDAC3B-D0D5-4C74-ABDA-76177104F81F}" type="pres">
      <dgm:prSet presAssocID="{134F8088-0118-4FD4-AB99-A0E09EA63C40}" presName="compNode" presStyleCnt="0"/>
      <dgm:spPr/>
    </dgm:pt>
    <dgm:pt modelId="{56BA1F36-7C15-429C-840D-EE80B4D23DB0}" type="pres">
      <dgm:prSet presAssocID="{134F8088-0118-4FD4-AB99-A0E09EA63C40}" presName="iconBgRect" presStyleLbl="bgShp" presStyleIdx="1" presStyleCnt="5"/>
      <dgm:spPr/>
    </dgm:pt>
    <dgm:pt modelId="{3213DD8B-5A6B-4B46-B12C-99A17F1155AF}" type="pres">
      <dgm:prSet presAssocID="{134F8088-0118-4FD4-AB99-A0E09EA63C4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7919C8B4-AD01-474D-9661-CB4487E10DEF}" type="pres">
      <dgm:prSet presAssocID="{134F8088-0118-4FD4-AB99-A0E09EA63C40}" presName="spaceRect" presStyleCnt="0"/>
      <dgm:spPr/>
    </dgm:pt>
    <dgm:pt modelId="{E3A92A04-D999-4D68-8EB4-C8817D84AD94}" type="pres">
      <dgm:prSet presAssocID="{134F8088-0118-4FD4-AB99-A0E09EA63C40}" presName="textRect" presStyleLbl="revTx" presStyleIdx="1" presStyleCnt="5">
        <dgm:presLayoutVars>
          <dgm:chMax val="1"/>
          <dgm:chPref val="1"/>
        </dgm:presLayoutVars>
      </dgm:prSet>
      <dgm:spPr/>
    </dgm:pt>
    <dgm:pt modelId="{8CA0A894-40E5-4538-80D7-D3F661638E58}" type="pres">
      <dgm:prSet presAssocID="{A15038DE-4188-464D-8E75-443BD19662B2}" presName="sibTrans" presStyleLbl="sibTrans2D1" presStyleIdx="0" presStyleCnt="0"/>
      <dgm:spPr/>
    </dgm:pt>
    <dgm:pt modelId="{64AFDB2A-EB8C-41D7-93FE-47471655E447}" type="pres">
      <dgm:prSet presAssocID="{AD429BF1-3542-4763-A26F-DB129C7D027A}" presName="compNode" presStyleCnt="0"/>
      <dgm:spPr/>
    </dgm:pt>
    <dgm:pt modelId="{D4516D3E-3883-4FC8-BAC7-FB93ACBD53FE}" type="pres">
      <dgm:prSet presAssocID="{AD429BF1-3542-4763-A26F-DB129C7D027A}" presName="iconBgRect" presStyleLbl="bgShp" presStyleIdx="2" presStyleCnt="5"/>
      <dgm:spPr/>
    </dgm:pt>
    <dgm:pt modelId="{C9546CAC-469D-4355-9E61-D87AD16C5590}" type="pres">
      <dgm:prSet presAssocID="{AD429BF1-3542-4763-A26F-DB129C7D027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7EAFE31F-5F0C-4533-B52C-D092A0F96985}" type="pres">
      <dgm:prSet presAssocID="{AD429BF1-3542-4763-A26F-DB129C7D027A}" presName="spaceRect" presStyleCnt="0"/>
      <dgm:spPr/>
    </dgm:pt>
    <dgm:pt modelId="{0725BF7D-9D1B-42BC-A0DC-E81F739DFBB7}" type="pres">
      <dgm:prSet presAssocID="{AD429BF1-3542-4763-A26F-DB129C7D027A}" presName="textRect" presStyleLbl="revTx" presStyleIdx="2" presStyleCnt="5">
        <dgm:presLayoutVars>
          <dgm:chMax val="1"/>
          <dgm:chPref val="1"/>
        </dgm:presLayoutVars>
      </dgm:prSet>
      <dgm:spPr/>
    </dgm:pt>
    <dgm:pt modelId="{E0F4A354-EA32-44A6-A077-714AA3E4AEB7}" type="pres">
      <dgm:prSet presAssocID="{5AEB0D49-1716-4B37-AB62-495A263DA554}" presName="sibTrans" presStyleLbl="sibTrans2D1" presStyleIdx="0" presStyleCnt="0"/>
      <dgm:spPr/>
    </dgm:pt>
    <dgm:pt modelId="{0508D0AB-5656-420B-AC5F-06ECD1E0AFE0}" type="pres">
      <dgm:prSet presAssocID="{E7622E65-BD14-44D1-93A1-5E608AE562FF}" presName="compNode" presStyleCnt="0"/>
      <dgm:spPr/>
    </dgm:pt>
    <dgm:pt modelId="{75015629-2B47-4953-8818-A7389D2D305D}" type="pres">
      <dgm:prSet presAssocID="{E7622E65-BD14-44D1-93A1-5E608AE562FF}" presName="iconBgRect" presStyleLbl="bgShp" presStyleIdx="3" presStyleCnt="5"/>
      <dgm:spPr/>
    </dgm:pt>
    <dgm:pt modelId="{E988799C-9D73-4B9C-B760-32BE511314CE}" type="pres">
      <dgm:prSet presAssocID="{E7622E65-BD14-44D1-93A1-5E608AE562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57D9EB4-E3E0-4440-9249-3E6BB2A0B0B4}" type="pres">
      <dgm:prSet presAssocID="{E7622E65-BD14-44D1-93A1-5E608AE562FF}" presName="spaceRect" presStyleCnt="0"/>
      <dgm:spPr/>
    </dgm:pt>
    <dgm:pt modelId="{CB531823-7076-41E6-AE9E-1D65AF345DD0}" type="pres">
      <dgm:prSet presAssocID="{E7622E65-BD14-44D1-93A1-5E608AE562FF}" presName="textRect" presStyleLbl="revTx" presStyleIdx="3" presStyleCnt="5">
        <dgm:presLayoutVars>
          <dgm:chMax val="1"/>
          <dgm:chPref val="1"/>
        </dgm:presLayoutVars>
      </dgm:prSet>
      <dgm:spPr/>
    </dgm:pt>
    <dgm:pt modelId="{8BFC79E1-9FFF-4FD9-B3CB-CD4266B1F8F4}" type="pres">
      <dgm:prSet presAssocID="{C07B749D-D3D6-427A-8659-1148D787CB60}" presName="sibTrans" presStyleLbl="sibTrans2D1" presStyleIdx="0" presStyleCnt="0"/>
      <dgm:spPr/>
    </dgm:pt>
    <dgm:pt modelId="{06144E89-8C00-41A7-8156-0579B184ADD4}" type="pres">
      <dgm:prSet presAssocID="{B329FA58-DB7E-4D2F-85E5-5EFAC65F88C9}" presName="compNode" presStyleCnt="0"/>
      <dgm:spPr/>
    </dgm:pt>
    <dgm:pt modelId="{775F24D5-2D26-4182-84F5-A322AE393BC4}" type="pres">
      <dgm:prSet presAssocID="{B329FA58-DB7E-4D2F-85E5-5EFAC65F88C9}" presName="iconBgRect" presStyleLbl="bgShp" presStyleIdx="4" presStyleCnt="5"/>
      <dgm:spPr/>
    </dgm:pt>
    <dgm:pt modelId="{2E177833-DF8D-4372-9842-6B66E0D4EE4A}" type="pres">
      <dgm:prSet presAssocID="{B329FA58-DB7E-4D2F-85E5-5EFAC65F88C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364C1040-2F6C-4C0A-B834-4EC04721EE49}" type="pres">
      <dgm:prSet presAssocID="{B329FA58-DB7E-4D2F-85E5-5EFAC65F88C9}" presName="spaceRect" presStyleCnt="0"/>
      <dgm:spPr/>
    </dgm:pt>
    <dgm:pt modelId="{2610A57C-E2DF-412F-9E86-59129676A5A8}" type="pres">
      <dgm:prSet presAssocID="{B329FA58-DB7E-4D2F-85E5-5EFAC65F88C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63E9008-A123-401C-98D3-62AC80D33243}" srcId="{0F875761-E683-475B-89DA-C9E0691B429F}" destId="{EA896CCF-7C3D-4354-BBF7-80058AF48AC8}" srcOrd="0" destOrd="0" parTransId="{209E8E9C-AE59-4BAD-91AA-8FDC605AB017}" sibTransId="{EF741BF6-9C5B-4B94-AAF3-7FC1F517EFC7}"/>
    <dgm:cxn modelId="{2F2F4810-087E-4409-9A47-D80244F9B3DD}" type="presOf" srcId="{E7622E65-BD14-44D1-93A1-5E608AE562FF}" destId="{CB531823-7076-41E6-AE9E-1D65AF345DD0}" srcOrd="0" destOrd="0" presId="urn:microsoft.com/office/officeart/2018/2/layout/IconCircleList"/>
    <dgm:cxn modelId="{FCE6CF28-2973-430A-B926-AC292C1FAF97}" srcId="{0F875761-E683-475B-89DA-C9E0691B429F}" destId="{AD429BF1-3542-4763-A26F-DB129C7D027A}" srcOrd="2" destOrd="0" parTransId="{2D5B37B8-50F2-424B-A20C-CF773AB3CDA9}" sibTransId="{5AEB0D49-1716-4B37-AB62-495A263DA554}"/>
    <dgm:cxn modelId="{C6E36033-F7AB-4DAB-8BBA-19C6D60B52F6}" type="presOf" srcId="{5AEB0D49-1716-4B37-AB62-495A263DA554}" destId="{E0F4A354-EA32-44A6-A077-714AA3E4AEB7}" srcOrd="0" destOrd="0" presId="urn:microsoft.com/office/officeart/2018/2/layout/IconCircleList"/>
    <dgm:cxn modelId="{0F376533-07FE-458C-B6CA-DA9BFA2AA4A7}" type="presOf" srcId="{C07B749D-D3D6-427A-8659-1148D787CB60}" destId="{8BFC79E1-9FFF-4FD9-B3CB-CD4266B1F8F4}" srcOrd="0" destOrd="0" presId="urn:microsoft.com/office/officeart/2018/2/layout/IconCircleList"/>
    <dgm:cxn modelId="{CD05303C-AD95-47BE-BDC9-6BAEAEFC792E}" srcId="{0F875761-E683-475B-89DA-C9E0691B429F}" destId="{B329FA58-DB7E-4D2F-85E5-5EFAC65F88C9}" srcOrd="4" destOrd="0" parTransId="{1D25687E-FAC3-4BFE-B24D-CCBF307AAFD5}" sibTransId="{3C3A4102-FEEE-4783-A2DB-E4A3A3D0F0C0}"/>
    <dgm:cxn modelId="{5AD0DB3C-88C5-4C13-BBC9-2EE2546E7D6E}" type="presOf" srcId="{0F875761-E683-475B-89DA-C9E0691B429F}" destId="{DEE4BE49-CF7E-4BEB-AC21-DF125E8E42B5}" srcOrd="0" destOrd="0" presId="urn:microsoft.com/office/officeart/2018/2/layout/IconCircleList"/>
    <dgm:cxn modelId="{4FE46878-A854-47A3-9DF1-AAD3ADCB21D4}" srcId="{0F875761-E683-475B-89DA-C9E0691B429F}" destId="{134F8088-0118-4FD4-AB99-A0E09EA63C40}" srcOrd="1" destOrd="0" parTransId="{418EAFE6-D233-43BA-B227-8200E51A379C}" sibTransId="{A15038DE-4188-464D-8E75-443BD19662B2}"/>
    <dgm:cxn modelId="{D59A2381-756C-4F3A-AF13-EE7C18A729FC}" type="presOf" srcId="{EF741BF6-9C5B-4B94-AAF3-7FC1F517EFC7}" destId="{40D2C23F-BB01-4BB4-9652-0277720A0FBB}" srcOrd="0" destOrd="0" presId="urn:microsoft.com/office/officeart/2018/2/layout/IconCircleList"/>
    <dgm:cxn modelId="{3AEA748B-CE37-4761-865D-E1C23A74013C}" type="presOf" srcId="{AD429BF1-3542-4763-A26F-DB129C7D027A}" destId="{0725BF7D-9D1B-42BC-A0DC-E81F739DFBB7}" srcOrd="0" destOrd="0" presId="urn:microsoft.com/office/officeart/2018/2/layout/IconCircleList"/>
    <dgm:cxn modelId="{C7210E98-BA8B-47C7-8137-F0730C91C9CF}" type="presOf" srcId="{EA896CCF-7C3D-4354-BBF7-80058AF48AC8}" destId="{11321D93-5716-4F07-99D7-655338673C05}" srcOrd="0" destOrd="0" presId="urn:microsoft.com/office/officeart/2018/2/layout/IconCircleList"/>
    <dgm:cxn modelId="{3AB66B9D-E108-4946-918E-8486EB59DB69}" type="presOf" srcId="{B329FA58-DB7E-4D2F-85E5-5EFAC65F88C9}" destId="{2610A57C-E2DF-412F-9E86-59129676A5A8}" srcOrd="0" destOrd="0" presId="urn:microsoft.com/office/officeart/2018/2/layout/IconCircleList"/>
    <dgm:cxn modelId="{3540D8C6-3563-42DF-B84E-CCAE128F475E}" srcId="{0F875761-E683-475B-89DA-C9E0691B429F}" destId="{E7622E65-BD14-44D1-93A1-5E608AE562FF}" srcOrd="3" destOrd="0" parTransId="{F4EED0DD-507E-42FF-BCFE-33A6CA13FCED}" sibTransId="{C07B749D-D3D6-427A-8659-1148D787CB60}"/>
    <dgm:cxn modelId="{C892CEDF-E3F7-4BAF-81A1-5A1F485F694E}" type="presOf" srcId="{134F8088-0118-4FD4-AB99-A0E09EA63C40}" destId="{E3A92A04-D999-4D68-8EB4-C8817D84AD94}" srcOrd="0" destOrd="0" presId="urn:microsoft.com/office/officeart/2018/2/layout/IconCircleList"/>
    <dgm:cxn modelId="{82779FE9-2DF1-4E63-B910-364D082B64DE}" type="presOf" srcId="{A15038DE-4188-464D-8E75-443BD19662B2}" destId="{8CA0A894-40E5-4538-80D7-D3F661638E58}" srcOrd="0" destOrd="0" presId="urn:microsoft.com/office/officeart/2018/2/layout/IconCircleList"/>
    <dgm:cxn modelId="{BCC720EC-9145-4B7C-B96C-8DE1D866299A}" type="presParOf" srcId="{DEE4BE49-CF7E-4BEB-AC21-DF125E8E42B5}" destId="{B6E17A0F-7505-4ACC-8E85-57A888FA51EA}" srcOrd="0" destOrd="0" presId="urn:microsoft.com/office/officeart/2018/2/layout/IconCircleList"/>
    <dgm:cxn modelId="{B7571E18-8838-400F-9427-DE4BA20CCC96}" type="presParOf" srcId="{B6E17A0F-7505-4ACC-8E85-57A888FA51EA}" destId="{275A64B0-A32A-4CD2-AEB8-2A1FA3BA96A2}" srcOrd="0" destOrd="0" presId="urn:microsoft.com/office/officeart/2018/2/layout/IconCircleList"/>
    <dgm:cxn modelId="{5B1AC888-F64C-4D85-9D1A-8A554F2C376B}" type="presParOf" srcId="{275A64B0-A32A-4CD2-AEB8-2A1FA3BA96A2}" destId="{6089F2F8-E2A6-4803-91F1-4FAC3A4BA70C}" srcOrd="0" destOrd="0" presId="urn:microsoft.com/office/officeart/2018/2/layout/IconCircleList"/>
    <dgm:cxn modelId="{082FD59D-2AA5-48F4-A00C-BF917754DF17}" type="presParOf" srcId="{275A64B0-A32A-4CD2-AEB8-2A1FA3BA96A2}" destId="{24C58A8B-D7C2-4DE6-AA54-D944D7456628}" srcOrd="1" destOrd="0" presId="urn:microsoft.com/office/officeart/2018/2/layout/IconCircleList"/>
    <dgm:cxn modelId="{F9FF13DF-501C-4A69-8C13-40A16EA5C34A}" type="presParOf" srcId="{275A64B0-A32A-4CD2-AEB8-2A1FA3BA96A2}" destId="{D4356F3F-DE85-4052-93B6-295A99C6D159}" srcOrd="2" destOrd="0" presId="urn:microsoft.com/office/officeart/2018/2/layout/IconCircleList"/>
    <dgm:cxn modelId="{5532459B-5BB4-490A-8E6C-69C6094F6D96}" type="presParOf" srcId="{275A64B0-A32A-4CD2-AEB8-2A1FA3BA96A2}" destId="{11321D93-5716-4F07-99D7-655338673C05}" srcOrd="3" destOrd="0" presId="urn:microsoft.com/office/officeart/2018/2/layout/IconCircleList"/>
    <dgm:cxn modelId="{92B200B2-1F5A-4D13-BF7B-C747C818BCB6}" type="presParOf" srcId="{B6E17A0F-7505-4ACC-8E85-57A888FA51EA}" destId="{40D2C23F-BB01-4BB4-9652-0277720A0FBB}" srcOrd="1" destOrd="0" presId="urn:microsoft.com/office/officeart/2018/2/layout/IconCircleList"/>
    <dgm:cxn modelId="{D82F7D83-16B8-4B72-9736-40B7C1FA5CF0}" type="presParOf" srcId="{B6E17A0F-7505-4ACC-8E85-57A888FA51EA}" destId="{CEEDAC3B-D0D5-4C74-ABDA-76177104F81F}" srcOrd="2" destOrd="0" presId="urn:microsoft.com/office/officeart/2018/2/layout/IconCircleList"/>
    <dgm:cxn modelId="{CAFD1012-F845-48E4-AAAF-A8BC5C242D27}" type="presParOf" srcId="{CEEDAC3B-D0D5-4C74-ABDA-76177104F81F}" destId="{56BA1F36-7C15-429C-840D-EE80B4D23DB0}" srcOrd="0" destOrd="0" presId="urn:microsoft.com/office/officeart/2018/2/layout/IconCircleList"/>
    <dgm:cxn modelId="{835C9ABC-EAC1-431A-BC2C-BEFF8CABDEFF}" type="presParOf" srcId="{CEEDAC3B-D0D5-4C74-ABDA-76177104F81F}" destId="{3213DD8B-5A6B-4B46-B12C-99A17F1155AF}" srcOrd="1" destOrd="0" presId="urn:microsoft.com/office/officeart/2018/2/layout/IconCircleList"/>
    <dgm:cxn modelId="{0207278F-2249-4597-B634-F34B9A70346B}" type="presParOf" srcId="{CEEDAC3B-D0D5-4C74-ABDA-76177104F81F}" destId="{7919C8B4-AD01-474D-9661-CB4487E10DEF}" srcOrd="2" destOrd="0" presId="urn:microsoft.com/office/officeart/2018/2/layout/IconCircleList"/>
    <dgm:cxn modelId="{017A1217-E279-4A73-A0F2-9324A4188785}" type="presParOf" srcId="{CEEDAC3B-D0D5-4C74-ABDA-76177104F81F}" destId="{E3A92A04-D999-4D68-8EB4-C8817D84AD94}" srcOrd="3" destOrd="0" presId="urn:microsoft.com/office/officeart/2018/2/layout/IconCircleList"/>
    <dgm:cxn modelId="{9AB4BD04-6BF1-47B4-91B5-2E5DF106C4F2}" type="presParOf" srcId="{B6E17A0F-7505-4ACC-8E85-57A888FA51EA}" destId="{8CA0A894-40E5-4538-80D7-D3F661638E58}" srcOrd="3" destOrd="0" presId="urn:microsoft.com/office/officeart/2018/2/layout/IconCircleList"/>
    <dgm:cxn modelId="{CF219750-3F42-46F6-A5EC-2951C7E5BC28}" type="presParOf" srcId="{B6E17A0F-7505-4ACC-8E85-57A888FA51EA}" destId="{64AFDB2A-EB8C-41D7-93FE-47471655E447}" srcOrd="4" destOrd="0" presId="urn:microsoft.com/office/officeart/2018/2/layout/IconCircleList"/>
    <dgm:cxn modelId="{D07BF4AF-D19B-44C3-875B-A12B6EA5286D}" type="presParOf" srcId="{64AFDB2A-EB8C-41D7-93FE-47471655E447}" destId="{D4516D3E-3883-4FC8-BAC7-FB93ACBD53FE}" srcOrd="0" destOrd="0" presId="urn:microsoft.com/office/officeart/2018/2/layout/IconCircleList"/>
    <dgm:cxn modelId="{0EB0DBDE-DA51-4330-9BD1-73E072C882E2}" type="presParOf" srcId="{64AFDB2A-EB8C-41D7-93FE-47471655E447}" destId="{C9546CAC-469D-4355-9E61-D87AD16C5590}" srcOrd="1" destOrd="0" presId="urn:microsoft.com/office/officeart/2018/2/layout/IconCircleList"/>
    <dgm:cxn modelId="{FC1BF63B-7411-48B1-A775-F7F206F1B7FD}" type="presParOf" srcId="{64AFDB2A-EB8C-41D7-93FE-47471655E447}" destId="{7EAFE31F-5F0C-4533-B52C-D092A0F96985}" srcOrd="2" destOrd="0" presId="urn:microsoft.com/office/officeart/2018/2/layout/IconCircleList"/>
    <dgm:cxn modelId="{258D4459-2859-4724-90CB-A2EBECAFFEBB}" type="presParOf" srcId="{64AFDB2A-EB8C-41D7-93FE-47471655E447}" destId="{0725BF7D-9D1B-42BC-A0DC-E81F739DFBB7}" srcOrd="3" destOrd="0" presId="urn:microsoft.com/office/officeart/2018/2/layout/IconCircleList"/>
    <dgm:cxn modelId="{1319EAFD-7130-4AF0-90CD-79C7A8124CD2}" type="presParOf" srcId="{B6E17A0F-7505-4ACC-8E85-57A888FA51EA}" destId="{E0F4A354-EA32-44A6-A077-714AA3E4AEB7}" srcOrd="5" destOrd="0" presId="urn:microsoft.com/office/officeart/2018/2/layout/IconCircleList"/>
    <dgm:cxn modelId="{CB570C4C-E607-43C1-A24D-2ECEC4275AFC}" type="presParOf" srcId="{B6E17A0F-7505-4ACC-8E85-57A888FA51EA}" destId="{0508D0AB-5656-420B-AC5F-06ECD1E0AFE0}" srcOrd="6" destOrd="0" presId="urn:microsoft.com/office/officeart/2018/2/layout/IconCircleList"/>
    <dgm:cxn modelId="{B1D00B46-8B47-42F0-BD5B-AB0EE2D975DA}" type="presParOf" srcId="{0508D0AB-5656-420B-AC5F-06ECD1E0AFE0}" destId="{75015629-2B47-4953-8818-A7389D2D305D}" srcOrd="0" destOrd="0" presId="urn:microsoft.com/office/officeart/2018/2/layout/IconCircleList"/>
    <dgm:cxn modelId="{608587E8-C238-4865-946A-CD8697FFA04F}" type="presParOf" srcId="{0508D0AB-5656-420B-AC5F-06ECD1E0AFE0}" destId="{E988799C-9D73-4B9C-B760-32BE511314CE}" srcOrd="1" destOrd="0" presId="urn:microsoft.com/office/officeart/2018/2/layout/IconCircleList"/>
    <dgm:cxn modelId="{9410EB9D-1103-4C30-8AEC-10ABCD83B007}" type="presParOf" srcId="{0508D0AB-5656-420B-AC5F-06ECD1E0AFE0}" destId="{957D9EB4-E3E0-4440-9249-3E6BB2A0B0B4}" srcOrd="2" destOrd="0" presId="urn:microsoft.com/office/officeart/2018/2/layout/IconCircleList"/>
    <dgm:cxn modelId="{A5DE6AD4-49BC-46A5-A4F6-4B402E905CAD}" type="presParOf" srcId="{0508D0AB-5656-420B-AC5F-06ECD1E0AFE0}" destId="{CB531823-7076-41E6-AE9E-1D65AF345DD0}" srcOrd="3" destOrd="0" presId="urn:microsoft.com/office/officeart/2018/2/layout/IconCircleList"/>
    <dgm:cxn modelId="{D6C212CF-D300-403B-8500-62B5AF786F64}" type="presParOf" srcId="{B6E17A0F-7505-4ACC-8E85-57A888FA51EA}" destId="{8BFC79E1-9FFF-4FD9-B3CB-CD4266B1F8F4}" srcOrd="7" destOrd="0" presId="urn:microsoft.com/office/officeart/2018/2/layout/IconCircleList"/>
    <dgm:cxn modelId="{E34C7F96-1208-47E2-ADD9-5E506CE5D6AB}" type="presParOf" srcId="{B6E17A0F-7505-4ACC-8E85-57A888FA51EA}" destId="{06144E89-8C00-41A7-8156-0579B184ADD4}" srcOrd="8" destOrd="0" presId="urn:microsoft.com/office/officeart/2018/2/layout/IconCircleList"/>
    <dgm:cxn modelId="{F820D007-57AA-4FD5-A046-BAD246BD431B}" type="presParOf" srcId="{06144E89-8C00-41A7-8156-0579B184ADD4}" destId="{775F24D5-2D26-4182-84F5-A322AE393BC4}" srcOrd="0" destOrd="0" presId="urn:microsoft.com/office/officeart/2018/2/layout/IconCircleList"/>
    <dgm:cxn modelId="{ADF6F7E1-3DE6-4079-ACC5-668753D04E6C}" type="presParOf" srcId="{06144E89-8C00-41A7-8156-0579B184ADD4}" destId="{2E177833-DF8D-4372-9842-6B66E0D4EE4A}" srcOrd="1" destOrd="0" presId="urn:microsoft.com/office/officeart/2018/2/layout/IconCircleList"/>
    <dgm:cxn modelId="{54509C54-188C-439B-B44D-FA404C611A98}" type="presParOf" srcId="{06144E89-8C00-41A7-8156-0579B184ADD4}" destId="{364C1040-2F6C-4C0A-B834-4EC04721EE49}" srcOrd="2" destOrd="0" presId="urn:microsoft.com/office/officeart/2018/2/layout/IconCircleList"/>
    <dgm:cxn modelId="{2DC1A01A-C4FE-4DDF-90B7-A118CCD165DD}" type="presParOf" srcId="{06144E89-8C00-41A7-8156-0579B184ADD4}" destId="{2610A57C-E2DF-412F-9E86-59129676A5A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9F2F8-E2A6-4803-91F1-4FAC3A4BA70C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58A8B-D7C2-4DE6-AA54-D944D7456628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21D93-5716-4F07-99D7-655338673C05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Upskill in Azure, Databricks, Python</a:t>
          </a:r>
        </a:p>
      </dsp:txBody>
      <dsp:txXfrm>
        <a:off x="1736122" y="1100"/>
        <a:ext cx="2172539" cy="921683"/>
      </dsp:txXfrm>
    </dsp:sp>
    <dsp:sp modelId="{56BA1F36-7C15-429C-840D-EE80B4D23DB0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3DD8B-5A6B-4B46-B12C-99A17F1155AF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92A04-D999-4D68-8EB4-C8817D84AD94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Prepare Power BI demo with DAX, RLS, drill-through</a:t>
          </a:r>
        </a:p>
      </dsp:txBody>
      <dsp:txXfrm>
        <a:off x="5406396" y="1100"/>
        <a:ext cx="2172539" cy="921683"/>
      </dsp:txXfrm>
    </dsp:sp>
    <dsp:sp modelId="{D4516D3E-3883-4FC8-BAC7-FB93ACBD53FE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46CAC-469D-4355-9E61-D87AD16C5590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5BF7D-9D1B-42BC-A0DC-E81F739DFBB7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Bring samples of BRDs or FSDs</a:t>
          </a:r>
        </a:p>
      </dsp:txBody>
      <dsp:txXfrm>
        <a:off x="1736122" y="1635560"/>
        <a:ext cx="2172539" cy="921683"/>
      </dsp:txXfrm>
    </dsp:sp>
    <dsp:sp modelId="{75015629-2B47-4953-8818-A7389D2D305D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8799C-9D73-4B9C-B760-32BE511314CE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31823-7076-41E6-AE9E-1D65AF345DD0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Familiarize with NLP and GenAI use cases</a:t>
          </a:r>
        </a:p>
      </dsp:txBody>
      <dsp:txXfrm>
        <a:off x="5406396" y="1635560"/>
        <a:ext cx="2172539" cy="921683"/>
      </dsp:txXfrm>
    </dsp:sp>
    <dsp:sp modelId="{775F24D5-2D26-4182-84F5-A322AE393BC4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77833-DF8D-4372-9842-6B66E0D4EE4A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0A57C-E2DF-412F-9E86-59129676A5A8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Ask about CPR’s data stack and innovation roadmap</a:t>
          </a:r>
        </a:p>
      </dsp:txBody>
      <dsp:txXfrm>
        <a:off x="1736122" y="3270020"/>
        <a:ext cx="2172539" cy="92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6BCF39-0C5E-3E8A-DA6D-CE472BDC2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CPR Vision</a:t>
            </a:r>
            <a:endParaRPr lang="en-MY" sz="420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5FC17E4-ACB6-BB6F-501A-61EB0E89E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Data Science Analyst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629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MY" sz="1700"/>
              <a:t>Company: CPR Vision – Data-driven transformation agency</a:t>
            </a:r>
          </a:p>
          <a:p>
            <a:r>
              <a:rPr lang="en-MY" sz="1700"/>
              <a:t>Role: Data &amp; Insights Specialist with Power BI expertise</a:t>
            </a:r>
          </a:p>
          <a:p>
            <a:r>
              <a:rPr lang="en-MY" sz="1700"/>
              <a:t>Objective: Strategic interview preparation with market insights</a:t>
            </a:r>
          </a:p>
          <a:p>
            <a:r>
              <a:rPr lang="en-MY" sz="1700"/>
              <a:t>Approach: McKinsey-style analysis, competitor mapping, SWOT, and fit-gap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 CPR Vision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11998"/>
              </p:ext>
            </p:extLst>
          </p:nvPr>
        </p:nvGraphicFramePr>
        <p:xfrm>
          <a:off x="685391" y="1966293"/>
          <a:ext cx="7773217" cy="445216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031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125">
                <a:tc>
                  <a:txBody>
                    <a:bodyPr/>
                    <a:lstStyle/>
                    <a:p>
                      <a:r>
                        <a:rPr sz="2700" b="1" cap="none" spc="0">
                          <a:solidFill>
                            <a:schemeClr val="tx1"/>
                          </a:solidFill>
                        </a:rPr>
                        <a:t>Attribute</a:t>
                      </a:r>
                    </a:p>
                  </a:txBody>
                  <a:tcPr marL="106487" marR="152124" marT="30425" marB="22818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700" b="1" cap="none" spc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 marL="106487" marR="152124" marT="30425" marB="22818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709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Founded</a:t>
                      </a:r>
                    </a:p>
                  </a:txBody>
                  <a:tcPr marL="106487" marR="152124" marT="30425" marB="228186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2002, Singapore</a:t>
                      </a:r>
                    </a:p>
                  </a:txBody>
                  <a:tcPr marL="106487" marR="152124" marT="30425" marB="2281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709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Acquired By</a:t>
                      </a:r>
                    </a:p>
                  </a:txBody>
                  <a:tcPr marL="106487" marR="152124" marT="30425" marB="228186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Volaris Group (2021)</a:t>
                      </a:r>
                    </a:p>
                  </a:txBody>
                  <a:tcPr marL="106487" marR="152124" marT="30425" marB="2281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956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Core Services</a:t>
                      </a:r>
                    </a:p>
                  </a:txBody>
                  <a:tcPr marL="106487" marR="152124" marT="30425" marB="228186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CRM, data analytics, loyalty, campaign management, UX/UI</a:t>
                      </a:r>
                    </a:p>
                  </a:txBody>
                  <a:tcPr marL="106487" marR="152124" marT="30425" marB="2281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956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Clients</a:t>
                      </a:r>
                    </a:p>
                  </a:txBody>
                  <a:tcPr marL="106487" marR="152124" marT="30425" marB="228186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Global brands across retail, finance, hospitality, telecom</a:t>
                      </a:r>
                    </a:p>
                  </a:txBody>
                  <a:tcPr marL="106487" marR="152124" marT="30425" marB="2281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709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Differentiators</a:t>
                      </a:r>
                    </a:p>
                  </a:txBody>
                  <a:tcPr marL="106487" marR="152124" marT="30425" marB="228186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Creative + strategy + tech integration</a:t>
                      </a:r>
                    </a:p>
                  </a:txBody>
                  <a:tcPr marL="106487" marR="152124" marT="30425" marB="2281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Industry Market Overview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114047"/>
              </p:ext>
            </p:extLst>
          </p:nvPr>
        </p:nvGraphicFramePr>
        <p:xfrm>
          <a:off x="3376821" y="1222625"/>
          <a:ext cx="5419312" cy="4412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300">
                <a:tc>
                  <a:txBody>
                    <a:bodyPr/>
                    <a:lstStyle/>
                    <a:p>
                      <a:r>
                        <a:rPr lang="en-MY" sz="2000"/>
                        <a:t>Trend</a:t>
                      </a:r>
                    </a:p>
                  </a:txBody>
                  <a:tcPr marL="99386" marR="99386" marT="49693" marB="49693"/>
                </a:tc>
                <a:tc>
                  <a:txBody>
                    <a:bodyPr/>
                    <a:lstStyle/>
                    <a:p>
                      <a:r>
                        <a:rPr lang="en-MY" sz="2000"/>
                        <a:t>Insight</a:t>
                      </a:r>
                    </a:p>
                  </a:txBody>
                  <a:tcPr marL="99386" marR="99386" marT="49693" marB="496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459">
                <a:tc>
                  <a:txBody>
                    <a:bodyPr/>
                    <a:lstStyle/>
                    <a:p>
                      <a:r>
                        <a:rPr lang="en-MY" sz="2000"/>
                        <a:t>Customer Data Platforms</a:t>
                      </a:r>
                    </a:p>
                  </a:txBody>
                  <a:tcPr marL="99386" marR="99386" marT="49693" marB="49693"/>
                </a:tc>
                <a:tc>
                  <a:txBody>
                    <a:bodyPr/>
                    <a:lstStyle/>
                    <a:p>
                      <a:r>
                        <a:rPr lang="en-MY" sz="2000"/>
                        <a:t>Rapid adoption across APAC</a:t>
                      </a:r>
                    </a:p>
                  </a:txBody>
                  <a:tcPr marL="99386" marR="99386" marT="49693" marB="49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459">
                <a:tc>
                  <a:txBody>
                    <a:bodyPr/>
                    <a:lstStyle/>
                    <a:p>
                      <a:r>
                        <a:rPr lang="en-MY" sz="2000"/>
                        <a:t>AI &amp; Personalization</a:t>
                      </a:r>
                    </a:p>
                  </a:txBody>
                  <a:tcPr marL="99386" marR="99386" marT="49693" marB="4969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Driving campaign ROI with NLP and GenAI</a:t>
                      </a:r>
                    </a:p>
                  </a:txBody>
                  <a:tcPr marL="99386" marR="99386" marT="49693" marB="49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617">
                <a:tc>
                  <a:txBody>
                    <a:bodyPr/>
                    <a:lstStyle/>
                    <a:p>
                      <a:r>
                        <a:rPr lang="en-MY" sz="2000"/>
                        <a:t>Cloud Analytics</a:t>
                      </a:r>
                    </a:p>
                  </a:txBody>
                  <a:tcPr marL="99386" marR="99386" marT="49693" marB="4969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Azure, Databricks, Snowflake standardizing insights</a:t>
                      </a:r>
                    </a:p>
                  </a:txBody>
                  <a:tcPr marL="99386" marR="99386" marT="49693" marB="49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459">
                <a:tc>
                  <a:txBody>
                    <a:bodyPr/>
                    <a:lstStyle/>
                    <a:p>
                      <a:r>
                        <a:rPr lang="en-MY" sz="2000"/>
                        <a:t>Data Privacy</a:t>
                      </a:r>
                    </a:p>
                  </a:txBody>
                  <a:tcPr marL="99386" marR="99386" marT="49693" marB="49693"/>
                </a:tc>
                <a:tc>
                  <a:txBody>
                    <a:bodyPr/>
                    <a:lstStyle/>
                    <a:p>
                      <a:r>
                        <a:rPr lang="en-MY" sz="2000"/>
                        <a:t>Regulatory scrutiny shaping governance</a:t>
                      </a:r>
                    </a:p>
                  </a:txBody>
                  <a:tcPr marL="99386" marR="99386" marT="49693" marB="49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459">
                <a:tc>
                  <a:txBody>
                    <a:bodyPr/>
                    <a:lstStyle/>
                    <a:p>
                      <a:r>
                        <a:rPr lang="en-MY" sz="2000"/>
                        <a:t>Real-Time Insights</a:t>
                      </a:r>
                    </a:p>
                  </a:txBody>
                  <a:tcPr marL="99386" marR="99386" marT="49693" marB="49693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Embedded analytics in marketing ops</a:t>
                      </a:r>
                    </a:p>
                  </a:txBody>
                  <a:tcPr marL="99386" marR="99386" marT="49693" marB="496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Trends &amp; Disruptions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94431"/>
              </p:ext>
            </p:extLst>
          </p:nvPr>
        </p:nvGraphicFramePr>
        <p:xfrm>
          <a:off x="3376821" y="1684941"/>
          <a:ext cx="5419312" cy="348811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919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9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811">
                <a:tc>
                  <a:txBody>
                    <a:bodyPr/>
                    <a:lstStyle/>
                    <a:p>
                      <a:r>
                        <a:rPr sz="2600" b="1" cap="none" spc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105853" marR="151219" marT="30244" marB="22682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05853" marR="151219" marT="30244" marB="22682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436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Trends</a:t>
                      </a:r>
                    </a:p>
                  </a:txBody>
                  <a:tcPr marL="105853" marR="151219" marT="30244" marB="22682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AI-driven personalization, embedded analytics</a:t>
                      </a:r>
                    </a:p>
                  </a:txBody>
                  <a:tcPr marL="105853" marR="151219" marT="30244" marB="2268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436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Threats</a:t>
                      </a:r>
                    </a:p>
                  </a:txBody>
                  <a:tcPr marL="105853" marR="151219" marT="30244" marB="22682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Data privacy regulations, global competition</a:t>
                      </a:r>
                    </a:p>
                  </a:txBody>
                  <a:tcPr marL="105853" marR="151219" marT="30244" marB="2268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436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Disruptions</a:t>
                      </a:r>
                    </a:p>
                  </a:txBody>
                  <a:tcPr marL="105853" marR="151219" marT="30244" marB="226828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GenAI, real-time behavioral nudges, cloud-native CDPs</a:t>
                      </a:r>
                    </a:p>
                  </a:txBody>
                  <a:tcPr marL="105853" marR="151219" marT="30244" marB="22682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Competitive Benchmarking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843042"/>
              </p:ext>
            </p:extLst>
          </p:nvPr>
        </p:nvGraphicFramePr>
        <p:xfrm>
          <a:off x="3376821" y="1845991"/>
          <a:ext cx="5419313" cy="316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50">
                <a:tc>
                  <a:txBody>
                    <a:bodyPr/>
                    <a:lstStyle/>
                    <a:p>
                      <a:r>
                        <a:rPr lang="en-MY" sz="1400"/>
                        <a:t>Company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Focus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Strengths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Weaknesses</a:t>
                      </a:r>
                    </a:p>
                  </a:txBody>
                  <a:tcPr marL="71307" marR="71307" marT="35653" marB="3565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670">
                <a:tc>
                  <a:txBody>
                    <a:bodyPr/>
                    <a:lstStyle/>
                    <a:p>
                      <a:r>
                        <a:rPr lang="en-MY" sz="1400"/>
                        <a:t>CPR Vision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CRM, loyalty, analytics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Creative + tech integration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Limited global visibility</a:t>
                      </a:r>
                    </a:p>
                  </a:txBody>
                  <a:tcPr marL="71307" marR="71307" marT="35653" marB="3565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590">
                <a:tc>
                  <a:txBody>
                    <a:bodyPr/>
                    <a:lstStyle/>
                    <a:p>
                      <a:r>
                        <a:rPr lang="en-MY" sz="1400"/>
                        <a:t>S⁴Capital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Digital content &amp; data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Global scale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Post-merger complexity</a:t>
                      </a:r>
                    </a:p>
                  </a:txBody>
                  <a:tcPr marL="71307" marR="71307" marT="35653" marB="3565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70">
                <a:tc>
                  <a:txBody>
                    <a:bodyPr/>
                    <a:lstStyle/>
                    <a:p>
                      <a:r>
                        <a:rPr lang="en-MY" sz="1400"/>
                        <a:t>Townsquare Media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Local media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US presence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Limited data science depth</a:t>
                      </a:r>
                    </a:p>
                  </a:txBody>
                  <a:tcPr marL="71307" marR="71307" marT="35653" marB="3565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670">
                <a:tc>
                  <a:txBody>
                    <a:bodyPr/>
                    <a:lstStyle/>
                    <a:p>
                      <a:r>
                        <a:rPr lang="en-MY" sz="1400"/>
                        <a:t>Advantage Solutions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CPG marketing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Retail insights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Less agile</a:t>
                      </a:r>
                    </a:p>
                  </a:txBody>
                  <a:tcPr marL="71307" marR="71307" marT="35653" marB="3565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670">
                <a:tc>
                  <a:txBody>
                    <a:bodyPr/>
                    <a:lstStyle/>
                    <a:p>
                      <a:r>
                        <a:rPr lang="en-MY" sz="1400"/>
                        <a:t>Tinuiti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Performance marketing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AI personalization</a:t>
                      </a:r>
                    </a:p>
                  </a:txBody>
                  <a:tcPr marL="71307" marR="71307" marT="35653" marB="35653"/>
                </a:tc>
                <a:tc>
                  <a:txBody>
                    <a:bodyPr/>
                    <a:lstStyle/>
                    <a:p>
                      <a:r>
                        <a:rPr lang="en-MY" sz="1400"/>
                        <a:t>US-centric</a:t>
                      </a:r>
                    </a:p>
                  </a:txBody>
                  <a:tcPr marL="71307" marR="71307" marT="35653" marB="3565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SWOT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115158"/>
              </p:ext>
            </p:extLst>
          </p:nvPr>
        </p:nvGraphicFramePr>
        <p:xfrm>
          <a:off x="3376821" y="2657037"/>
          <a:ext cx="5419313" cy="154392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3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339">
                <a:tc>
                  <a:txBody>
                    <a:bodyPr/>
                    <a:lstStyle/>
                    <a:p>
                      <a:r>
                        <a:rPr sz="1500" b="0" cap="none" spc="60">
                          <a:solidFill>
                            <a:schemeClr val="bg1"/>
                          </a:solidFill>
                        </a:rPr>
                        <a:t>Strengths</a:t>
                      </a:r>
                    </a:p>
                  </a:txBody>
                  <a:tcPr marL="87227" marR="87227" marT="87227" marB="4361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cap="none" spc="60">
                          <a:solidFill>
                            <a:schemeClr val="bg1"/>
                          </a:solidFill>
                        </a:rPr>
                        <a:t>Weaknesses</a:t>
                      </a:r>
                    </a:p>
                  </a:txBody>
                  <a:tcPr marL="87227" marR="87227" marT="87227" marB="4361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cap="none" spc="60">
                          <a:solidFill>
                            <a:schemeClr val="bg1"/>
                          </a:solidFill>
                        </a:rPr>
                        <a:t>Opportunities</a:t>
                      </a:r>
                    </a:p>
                  </a:txBody>
                  <a:tcPr marL="87227" marR="87227" marT="87227" marB="4361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cap="none" spc="60">
                          <a:solidFill>
                            <a:schemeClr val="bg1"/>
                          </a:solidFill>
                        </a:rPr>
                        <a:t>Threats</a:t>
                      </a:r>
                    </a:p>
                  </a:txBody>
                  <a:tcPr marL="87227" marR="87227" marT="87227" marB="4361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794"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Creative + tech model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Limited brand awareness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AI/ML expansion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Global competition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94"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Client relationships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Tech stack fragmentation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Productize analytics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cap="none" spc="0">
                          <a:solidFill>
                            <a:schemeClr val="tx1"/>
                          </a:solidFill>
                        </a:rPr>
                        <a:t>Data regulations</a:t>
                      </a:r>
                    </a:p>
                  </a:txBody>
                  <a:tcPr marL="87227" marR="87227" marT="87227" marB="436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Porter's Five Forces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782214"/>
              </p:ext>
            </p:extLst>
          </p:nvPr>
        </p:nvGraphicFramePr>
        <p:xfrm>
          <a:off x="3376821" y="1167877"/>
          <a:ext cx="5419313" cy="452224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4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998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Force</a:t>
                      </a:r>
                    </a:p>
                  </a:txBody>
                  <a:tcPr marL="252734" marR="151640" marT="151640" marB="1516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Intensity</a:t>
                      </a:r>
                    </a:p>
                  </a:txBody>
                  <a:tcPr marL="252734" marR="151640" marT="151640" marB="1516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Notes</a:t>
                      </a:r>
                    </a:p>
                  </a:txBody>
                  <a:tcPr marL="252734" marR="151640" marT="151640" marB="15164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0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New Entrants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 barriers, trust matters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0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Buyer Power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Demand for ROI and transparency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0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Supplier Power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Talent key, tools commoditized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0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Substitutes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In-house teams, SaaS CDPs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0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Rivalry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Many players, low switching costs</a:t>
                      </a:r>
                    </a:p>
                  </a:txBody>
                  <a:tcPr marL="252734" marR="131421" marT="131421" marB="1314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Role Fit-Gap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12629"/>
              </p:ext>
            </p:extLst>
          </p:nvPr>
        </p:nvGraphicFramePr>
        <p:xfrm>
          <a:off x="3376821" y="842549"/>
          <a:ext cx="5419312" cy="517290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47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643">
                <a:tc>
                  <a:txBody>
                    <a:bodyPr/>
                    <a:lstStyle/>
                    <a:p>
                      <a:r>
                        <a:rPr sz="1300" b="1" cap="all" spc="60">
                          <a:solidFill>
                            <a:schemeClr val="tx1"/>
                          </a:solidFill>
                        </a:rPr>
                        <a:t>Requirement</a:t>
                      </a:r>
                    </a:p>
                  </a:txBody>
                  <a:tcPr marL="98782" marR="98782" marT="98782" marB="9878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1" cap="all" spc="60">
                          <a:solidFill>
                            <a:schemeClr val="tx1"/>
                          </a:solidFill>
                        </a:rPr>
                        <a:t>Match</a:t>
                      </a:r>
                    </a:p>
                  </a:txBody>
                  <a:tcPr marL="98782" marR="98782" marT="98782" marB="9878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 b="1" cap="all" spc="60">
                          <a:solidFill>
                            <a:schemeClr val="tx1"/>
                          </a:solidFill>
                        </a:rPr>
                        <a:t>Notes</a:t>
                      </a:r>
                    </a:p>
                  </a:txBody>
                  <a:tcPr marL="98782" marR="98782" marT="98782" marB="9878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526"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Power BI (Expert)</a:t>
                      </a:r>
                    </a:p>
                  </a:txBody>
                  <a:tcPr marL="98782" marR="98782" marT="49391" marB="98782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Advanced features and dashboarding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526"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SQL &amp; Data Handling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Large dataset experience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526"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Documentation</a:t>
                      </a:r>
                    </a:p>
                  </a:txBody>
                  <a:tcPr marL="98782" marR="98782" marT="49391" marB="98782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BRD, FSD, process flows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526"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Statistical Analysis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Data mining, pattern recognition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526"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Python/R</a:t>
                      </a:r>
                    </a:p>
                  </a:txBody>
                  <a:tcPr marL="98782" marR="98782" marT="49391" marB="98782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⚠️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Basic exposure recommended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107"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Azure/Databricks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⚠️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Upskill suggested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4526"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AI/ML</a:t>
                      </a:r>
                    </a:p>
                  </a:txBody>
                  <a:tcPr marL="98782" marR="98782" marT="49391" marB="98782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⚠️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cap="none" spc="0">
                          <a:solidFill>
                            <a:schemeClr val="tx1"/>
                          </a:solidFill>
                        </a:rPr>
                        <a:t>Not mandatory, but beneficial</a:t>
                      </a:r>
                    </a:p>
                  </a:txBody>
                  <a:tcPr marL="98782" marR="98782" marT="49391" marB="987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Technical Interview FAQs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969560"/>
              </p:ext>
            </p:extLst>
          </p:nvPr>
        </p:nvGraphicFramePr>
        <p:xfrm>
          <a:off x="3376821" y="1705621"/>
          <a:ext cx="5419311" cy="344676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684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973">
                <a:tc>
                  <a:txBody>
                    <a:bodyPr/>
                    <a:lstStyle/>
                    <a:p>
                      <a:r>
                        <a:rPr sz="1400" b="1" cap="all" spc="60">
                          <a:solidFill>
                            <a:schemeClr val="tx1"/>
                          </a:solidFill>
                        </a:rPr>
                        <a:t>Question</a:t>
                      </a:r>
                    </a:p>
                  </a:txBody>
                  <a:tcPr marL="103403" marR="103403" marT="103403" marB="10340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 cap="all" spc="60">
                          <a:solidFill>
                            <a:schemeClr val="tx1"/>
                          </a:solidFill>
                        </a:rPr>
                        <a:t>Example Answer</a:t>
                      </a:r>
                    </a:p>
                  </a:txBody>
                  <a:tcPr marL="103403" marR="103403" marT="103403" marB="103403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947"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Optimize Power BI dashboards</a:t>
                      </a:r>
                    </a:p>
                  </a:txBody>
                  <a:tcPr marL="103403" marR="103403" marT="51701" marB="10340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Star schema, DAX, RLS, bookmarks</a:t>
                      </a:r>
                    </a:p>
                  </a:txBody>
                  <a:tcPr marL="103403" marR="103403" marT="51701" marB="1034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947"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SQL for business problem</a:t>
                      </a:r>
                    </a:p>
                  </a:txBody>
                  <a:tcPr marL="103403" marR="103403" marT="51701" marB="1034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Used HiveSQL to detect anomalies at AmBank</a:t>
                      </a:r>
                    </a:p>
                  </a:txBody>
                  <a:tcPr marL="103403" marR="103403" marT="51701" marB="1034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947"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Ensure data quality</a:t>
                      </a:r>
                    </a:p>
                  </a:txBody>
                  <a:tcPr marL="103403" marR="103403" marT="51701" marB="103403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Validation rules, control tables, anomaly alerts</a:t>
                      </a:r>
                    </a:p>
                  </a:txBody>
                  <a:tcPr marL="103403" marR="103403" marT="51701" marB="1034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947"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Loyalty campaign KPIs</a:t>
                      </a:r>
                    </a:p>
                  </a:txBody>
                  <a:tcPr marL="103403" marR="103403" marT="51701" marB="1034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cap="none" spc="0">
                          <a:solidFill>
                            <a:schemeClr val="tx1"/>
                          </a:solidFill>
                        </a:rPr>
                        <a:t>Redemption rate, CLV, churn probability</a:t>
                      </a:r>
                    </a:p>
                  </a:txBody>
                  <a:tcPr marL="103403" marR="103403" marT="51701" marB="10340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Behavioral Interview FAQs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019651"/>
              </p:ext>
            </p:extLst>
          </p:nvPr>
        </p:nvGraphicFramePr>
        <p:xfrm>
          <a:off x="3376821" y="1703524"/>
          <a:ext cx="5419312" cy="3450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5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773">
                <a:tc>
                  <a:txBody>
                    <a:bodyPr/>
                    <a:lstStyle/>
                    <a:p>
                      <a:r>
                        <a:rPr lang="en-MY" sz="2100"/>
                        <a:t>Question</a:t>
                      </a:r>
                    </a:p>
                  </a:txBody>
                  <a:tcPr marL="105857" marR="105857" marT="52929" marB="52929"/>
                </a:tc>
                <a:tc>
                  <a:txBody>
                    <a:bodyPr/>
                    <a:lstStyle/>
                    <a:p>
                      <a:r>
                        <a:rPr lang="en-MY" sz="2100"/>
                        <a:t>Example Answer</a:t>
                      </a:r>
                    </a:p>
                  </a:txBody>
                  <a:tcPr marL="105857" marR="105857" marT="52929" marB="529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917">
                <a:tc>
                  <a:txBody>
                    <a:bodyPr/>
                    <a:lstStyle/>
                    <a:p>
                      <a:r>
                        <a:rPr lang="en-MY" sz="2100"/>
                        <a:t>Cross-functional collaboration</a:t>
                      </a:r>
                    </a:p>
                  </a:txBody>
                  <a:tcPr marL="105857" marR="105857" marT="52929" marB="52929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Worked with policy, tech, BI teams at DOE</a:t>
                      </a:r>
                    </a:p>
                  </a:txBody>
                  <a:tcPr marL="105857" marR="105857" marT="52929" marB="529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345">
                <a:tc>
                  <a:txBody>
                    <a:bodyPr/>
                    <a:lstStyle/>
                    <a:p>
                      <a:r>
                        <a:rPr lang="en-MY" sz="2100"/>
                        <a:t>Handling tight deadlines</a:t>
                      </a:r>
                    </a:p>
                  </a:txBody>
                  <a:tcPr marL="105857" marR="105857" marT="52929" marB="52929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Delivered pipeline in 48 hours at TM</a:t>
                      </a:r>
                    </a:p>
                  </a:txBody>
                  <a:tcPr marL="105857" marR="105857" marT="52929" marB="529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0917">
                <a:tc>
                  <a:txBody>
                    <a:bodyPr/>
                    <a:lstStyle/>
                    <a:p>
                      <a:r>
                        <a:rPr lang="en-MY" sz="2100"/>
                        <a:t>Explaining complex concepts</a:t>
                      </a:r>
                    </a:p>
                  </a:txBody>
                  <a:tcPr marL="105857" marR="105857" marT="52929" marB="52929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Used library analogy for ETL to marketing team</a:t>
                      </a:r>
                    </a:p>
                  </a:txBody>
                  <a:tcPr marL="105857" marR="105857" marT="52929" marB="529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Strategic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A15C40-09DE-BD56-8DA6-2B0BDB017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8107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488</Words>
  <Application>Microsoft Office PowerPoint</Application>
  <PresentationFormat>On-screen Show (4:3)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CPR Vision</vt:lpstr>
      <vt:lpstr>Executive Summary</vt:lpstr>
      <vt:lpstr>About CPR Vision</vt:lpstr>
      <vt:lpstr>Industry Market Overview (2025)</vt:lpstr>
      <vt:lpstr>Key Trends &amp; Disruptions</vt:lpstr>
      <vt:lpstr>Competitive Benchmarking</vt:lpstr>
      <vt:lpstr>SWOT Analysis</vt:lpstr>
      <vt:lpstr>Porter's Five Forces</vt:lpstr>
      <vt:lpstr>Role Fit-Gap Analysis</vt:lpstr>
      <vt:lpstr>Technical Interview FAQs</vt:lpstr>
      <vt:lpstr>Behavioral Interview FAQs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Amirun Fadzli</cp:lastModifiedBy>
  <cp:revision>2</cp:revision>
  <dcterms:created xsi:type="dcterms:W3CDTF">2013-01-27T09:14:16Z</dcterms:created>
  <dcterms:modified xsi:type="dcterms:W3CDTF">2025-07-15T07:06:33Z</dcterms:modified>
  <cp:category/>
</cp:coreProperties>
</file>